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79" r:id="rId5"/>
    <p:sldId id="280" r:id="rId6"/>
    <p:sldId id="261" r:id="rId7"/>
    <p:sldId id="283" r:id="rId8"/>
    <p:sldId id="276" r:id="rId9"/>
    <p:sldId id="264" r:id="rId10"/>
    <p:sldId id="263" r:id="rId11"/>
    <p:sldId id="266" r:id="rId12"/>
    <p:sldId id="265" r:id="rId13"/>
    <p:sldId id="268" r:id="rId14"/>
    <p:sldId id="267" r:id="rId15"/>
    <p:sldId id="270" r:id="rId16"/>
    <p:sldId id="269" r:id="rId17"/>
    <p:sldId id="271" r:id="rId18"/>
    <p:sldId id="284" r:id="rId19"/>
    <p:sldId id="281" r:id="rId20"/>
    <p:sldId id="273" r:id="rId21"/>
    <p:sldId id="274"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D1BFFD-1320-47C9-8710-7D7FF1AE77A8}" type="datetimeFigureOut">
              <a:rPr lang="en-IN" smtClean="0"/>
              <a:t>15-05-2026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980F13-D12D-444B-BFCC-D62C522D1349}" type="slidenum">
              <a:rPr lang="en-IN" smtClean="0"/>
              <a:t>‹#›</a:t>
            </a:fld>
            <a:endParaRPr lang="en-IN"/>
          </a:p>
        </p:txBody>
      </p:sp>
    </p:spTree>
    <p:extLst>
      <p:ext uri="{BB962C8B-B14F-4D97-AF65-F5344CB8AC3E}">
        <p14:creationId xmlns:p14="http://schemas.microsoft.com/office/powerpoint/2010/main" val="1995125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DAAC26-D88C-44CC-981F-B5CCE56FE813}" type="slidenum">
              <a:rPr lang="en-IN" smtClean="0"/>
              <a:t>9</a:t>
            </a:fld>
            <a:endParaRPr lang="en-IN"/>
          </a:p>
        </p:txBody>
      </p:sp>
    </p:spTree>
    <p:extLst>
      <p:ext uri="{BB962C8B-B14F-4D97-AF65-F5344CB8AC3E}">
        <p14:creationId xmlns:p14="http://schemas.microsoft.com/office/powerpoint/2010/main" val="291814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DAAC26-D88C-44CC-981F-B5CCE56FE813}" type="slidenum">
              <a:rPr lang="en-IN" smtClean="0"/>
              <a:t>15</a:t>
            </a:fld>
            <a:endParaRPr lang="en-IN"/>
          </a:p>
        </p:txBody>
      </p:sp>
    </p:spTree>
    <p:extLst>
      <p:ext uri="{BB962C8B-B14F-4D97-AF65-F5344CB8AC3E}">
        <p14:creationId xmlns:p14="http://schemas.microsoft.com/office/powerpoint/2010/main" val="429582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2C213-7D59-40B4-4A7F-8BCFDF2D99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75B2AE-F8A9-2166-4E6C-0C2F49305A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1D310B-C72F-6DF3-83F5-8FF6F927F1D6}"/>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5" name="Footer Placeholder 4">
            <a:extLst>
              <a:ext uri="{FF2B5EF4-FFF2-40B4-BE49-F238E27FC236}">
                <a16:creationId xmlns:a16="http://schemas.microsoft.com/office/drawing/2014/main" id="{9940C6FC-295D-DFBC-0B86-3349F1BEA6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002A1D-E786-9F69-925B-B180DF787DA2}"/>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3375019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CFC1B-3D23-463D-13F7-0F63BB20A0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A9920D-E238-8112-0056-D12419D84E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9BBB90-B992-5F93-9762-796CFAFC8FA4}"/>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5" name="Footer Placeholder 4">
            <a:extLst>
              <a:ext uri="{FF2B5EF4-FFF2-40B4-BE49-F238E27FC236}">
                <a16:creationId xmlns:a16="http://schemas.microsoft.com/office/drawing/2014/main" id="{D2375C8F-B320-1EF5-8C79-C5DD80F39E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85C399-5624-132B-D044-B074400C4420}"/>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651785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33A99-2060-D439-9DDB-2352F28A1E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5820FF9-2B41-8716-116F-D9A31F464C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9859F7-B7BE-7D2B-FF73-46DF85DBAE86}"/>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5" name="Footer Placeholder 4">
            <a:extLst>
              <a:ext uri="{FF2B5EF4-FFF2-40B4-BE49-F238E27FC236}">
                <a16:creationId xmlns:a16="http://schemas.microsoft.com/office/drawing/2014/main" id="{BF426725-3FD6-1A8C-C63F-A5915057A3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321E12-AA46-796C-B295-41E4E495A7AD}"/>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3333330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4357F-EDAE-DC7F-329B-EF77EBF7E2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66971B-B2DA-D972-C8E0-07E3A2EE30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84D2FD0-5097-90BC-3410-051AFFD946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23C1AD-A72F-B98A-3059-AF05EAD7C59A}"/>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6" name="Footer Placeholder 5">
            <a:extLst>
              <a:ext uri="{FF2B5EF4-FFF2-40B4-BE49-F238E27FC236}">
                <a16:creationId xmlns:a16="http://schemas.microsoft.com/office/drawing/2014/main" id="{DC4027E3-A5C3-114B-E0BA-7BCA175228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BC07F-985D-2965-5B78-2D9AC54A196A}"/>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3112872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D3869-003F-6ABA-D072-3A1A5BD79BD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7D5DF3-4CB3-A700-383A-816E141908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9DA4F8-F4EB-0B7E-4529-FB2E684FE1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DC923E-AE6F-C583-880C-5E5CF389E0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2A9D75-78A4-CC4B-0488-E702559F4D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A7F30BE-A84D-DD74-DB3C-8127B299DF6C}"/>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8" name="Footer Placeholder 7">
            <a:extLst>
              <a:ext uri="{FF2B5EF4-FFF2-40B4-BE49-F238E27FC236}">
                <a16:creationId xmlns:a16="http://schemas.microsoft.com/office/drawing/2014/main" id="{72B19F85-016C-8E94-EED7-12647076CD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937E8F-6453-CB8A-19ED-FDAC0241E366}"/>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4155609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21C79-7440-FA6F-6CC0-6C2B0CB79D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3DEA36-BDAF-63A8-36E7-67204D1C66E5}"/>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4" name="Footer Placeholder 3">
            <a:extLst>
              <a:ext uri="{FF2B5EF4-FFF2-40B4-BE49-F238E27FC236}">
                <a16:creationId xmlns:a16="http://schemas.microsoft.com/office/drawing/2014/main" id="{2666604E-95C1-E3D7-9822-6F3C99475E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22BBBD6-22DD-F46B-F478-5863FB5DEF03}"/>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402877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C3A5BE-6487-796F-DDDB-883947D88CD3}"/>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3" name="Footer Placeholder 2">
            <a:extLst>
              <a:ext uri="{FF2B5EF4-FFF2-40B4-BE49-F238E27FC236}">
                <a16:creationId xmlns:a16="http://schemas.microsoft.com/office/drawing/2014/main" id="{8AC98877-6911-1E95-62AB-60D9D02CBFA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EF5F390-C045-DF5C-8ED9-3E1A8DC3FF09}"/>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3811084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86772-696A-02A5-CCA0-8057D9D8A1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3EBFE3-4BD0-7606-4243-1C51F63976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BD76C3-1D2B-6EBE-AF1F-DC6D3E635B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ED998A-0EA7-B213-37FD-CF05F5FB7CFC}"/>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6" name="Footer Placeholder 5">
            <a:extLst>
              <a:ext uri="{FF2B5EF4-FFF2-40B4-BE49-F238E27FC236}">
                <a16:creationId xmlns:a16="http://schemas.microsoft.com/office/drawing/2014/main" id="{5834CB82-9A41-11CF-E48E-076C66F9C9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C1052A-DC01-3835-11C6-5C86B1AB1174}"/>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2177262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6C9A-9EB2-AE45-8A49-59F770668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8508427-E533-7C7C-5C5D-2F7780420D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5E4CF5B-DB75-5AF3-10CB-229F1466C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ABF1A5-0852-194D-65B7-A940EE055A98}"/>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6" name="Footer Placeholder 5">
            <a:extLst>
              <a:ext uri="{FF2B5EF4-FFF2-40B4-BE49-F238E27FC236}">
                <a16:creationId xmlns:a16="http://schemas.microsoft.com/office/drawing/2014/main" id="{2042BD90-05F7-16D2-E60B-A117FF56F2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342689-C623-F024-5F3D-E90AC0F0DECE}"/>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4011724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C084-54D7-5DCC-0BEB-869949E8638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AD960E-75DD-CAFE-1D77-0FC27E6008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AFD87C-475E-5473-78D5-776B2AD7F396}"/>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5" name="Footer Placeholder 4">
            <a:extLst>
              <a:ext uri="{FF2B5EF4-FFF2-40B4-BE49-F238E27FC236}">
                <a16:creationId xmlns:a16="http://schemas.microsoft.com/office/drawing/2014/main" id="{DD795251-BA83-90B3-9F27-4E46EE3327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13DFF6-5A1A-5F4C-34C3-7E8A7CA48DE1}"/>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3116588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E95E80-AACD-4338-2EF6-6E01089DF2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4C0925-7358-E4A6-C2A3-DFC14957B2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336D9E-3C2D-C050-6D8D-130E67FFC52A}"/>
              </a:ext>
            </a:extLst>
          </p:cNvPr>
          <p:cNvSpPr>
            <a:spLocks noGrp="1"/>
          </p:cNvSpPr>
          <p:nvPr>
            <p:ph type="dt" sz="half" idx="10"/>
          </p:nvPr>
        </p:nvSpPr>
        <p:spPr/>
        <p:txBody>
          <a:bodyPr/>
          <a:lstStyle/>
          <a:p>
            <a:fld id="{F6711193-C5B5-49DA-9A93-D6F94D355CA3}" type="datetimeFigureOut">
              <a:rPr lang="en-IN" smtClean="0"/>
              <a:t>15-05-2026</a:t>
            </a:fld>
            <a:endParaRPr lang="en-IN"/>
          </a:p>
        </p:txBody>
      </p:sp>
      <p:sp>
        <p:nvSpPr>
          <p:cNvPr id="5" name="Footer Placeholder 4">
            <a:extLst>
              <a:ext uri="{FF2B5EF4-FFF2-40B4-BE49-F238E27FC236}">
                <a16:creationId xmlns:a16="http://schemas.microsoft.com/office/drawing/2014/main" id="{07B70483-14E9-E2F6-A018-2EFB4B0A70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8F2747-CBD2-77C6-60C2-23C5995CEE71}"/>
              </a:ext>
            </a:extLst>
          </p:cNvPr>
          <p:cNvSpPr>
            <a:spLocks noGrp="1"/>
          </p:cNvSpPr>
          <p:nvPr>
            <p:ph type="sldNum" sz="quarter" idx="12"/>
          </p:nvPr>
        </p:nvSpPr>
        <p:spPr/>
        <p:txBody>
          <a:bodyPr/>
          <a:lstStyle/>
          <a:p>
            <a:fld id="{A9ED5695-26B3-4F37-A12B-3099F4FB17F0}" type="slidenum">
              <a:rPr lang="en-IN" smtClean="0"/>
              <a:t>‹#›</a:t>
            </a:fld>
            <a:endParaRPr lang="en-IN"/>
          </a:p>
        </p:txBody>
      </p:sp>
    </p:spTree>
    <p:extLst>
      <p:ext uri="{BB962C8B-B14F-4D97-AF65-F5344CB8AC3E}">
        <p14:creationId xmlns:p14="http://schemas.microsoft.com/office/powerpoint/2010/main" val="1045287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B1792F-DC9C-3028-A1E7-230C00CBF2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122127-41EC-0956-445D-E82896DD0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07310B-9D43-9735-FA75-A7D24B4FB2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711193-C5B5-49DA-9A93-D6F94D355CA3}" type="datetimeFigureOut">
              <a:rPr lang="en-IN" smtClean="0"/>
              <a:t>15-05-2026</a:t>
            </a:fld>
            <a:endParaRPr lang="en-IN"/>
          </a:p>
        </p:txBody>
      </p:sp>
      <p:sp>
        <p:nvSpPr>
          <p:cNvPr id="5" name="Footer Placeholder 4">
            <a:extLst>
              <a:ext uri="{FF2B5EF4-FFF2-40B4-BE49-F238E27FC236}">
                <a16:creationId xmlns:a16="http://schemas.microsoft.com/office/drawing/2014/main" id="{A56BDB18-1987-72B9-DAD3-D42151A385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BF88D2-63A2-F18C-4CA5-590A769D29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ED5695-26B3-4F37-A12B-3099F4FB17F0}" type="slidenum">
              <a:rPr lang="en-IN" smtClean="0"/>
              <a:t>‹#›</a:t>
            </a:fld>
            <a:endParaRPr lang="en-IN"/>
          </a:p>
        </p:txBody>
      </p:sp>
    </p:spTree>
    <p:extLst>
      <p:ext uri="{BB962C8B-B14F-4D97-AF65-F5344CB8AC3E}">
        <p14:creationId xmlns:p14="http://schemas.microsoft.com/office/powerpoint/2010/main" val="3502991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966834" y="5196840"/>
            <a:ext cx="3056255" cy="1298575"/>
          </a:xfrm>
          <a:prstGeom prst="rect">
            <a:avLst/>
          </a:prstGeom>
        </p:spPr>
        <p:txBody>
          <a:bodyPr vert="horz" wrap="square" lIns="0" tIns="16510" rIns="0" bIns="0" rtlCol="0">
            <a:spAutoFit/>
          </a:bodyPr>
          <a:lstStyle/>
          <a:p>
            <a:pPr marL="12700" marR="1405890">
              <a:lnSpc>
                <a:spcPct val="100000"/>
              </a:lnSpc>
              <a:spcBef>
                <a:spcPts val="130"/>
              </a:spcBef>
            </a:pPr>
            <a:r>
              <a:rPr sz="2750" spc="-795" dirty="0">
                <a:solidFill>
                  <a:srgbClr val="000000"/>
                </a:solidFill>
                <a:latin typeface="Arial"/>
                <a:cs typeface="Arial"/>
              </a:rPr>
              <a:t>N</a:t>
            </a:r>
            <a:r>
              <a:rPr sz="2750" spc="-465" dirty="0">
                <a:solidFill>
                  <a:srgbClr val="000000"/>
                </a:solidFill>
                <a:latin typeface="Arial"/>
                <a:cs typeface="Arial"/>
              </a:rPr>
              <a:t>a</a:t>
            </a:r>
            <a:r>
              <a:rPr sz="2750" spc="-775" dirty="0">
                <a:solidFill>
                  <a:srgbClr val="000000"/>
                </a:solidFill>
                <a:latin typeface="Arial"/>
                <a:cs typeface="Arial"/>
              </a:rPr>
              <a:t>m</a:t>
            </a:r>
            <a:r>
              <a:rPr sz="2750" spc="-550" dirty="0">
                <a:solidFill>
                  <a:srgbClr val="000000"/>
                </a:solidFill>
                <a:latin typeface="Arial"/>
                <a:cs typeface="Arial"/>
              </a:rPr>
              <a:t>e</a:t>
            </a:r>
            <a:r>
              <a:rPr sz="2750" spc="-95" dirty="0">
                <a:solidFill>
                  <a:srgbClr val="000000"/>
                </a:solidFill>
                <a:latin typeface="Arial"/>
                <a:cs typeface="Arial"/>
              </a:rPr>
              <a:t>:</a:t>
            </a:r>
            <a:r>
              <a:rPr sz="2750" spc="-325" dirty="0">
                <a:solidFill>
                  <a:srgbClr val="000000"/>
                </a:solidFill>
                <a:latin typeface="Arial"/>
                <a:cs typeface="Arial"/>
              </a:rPr>
              <a:t> </a:t>
            </a:r>
            <a:r>
              <a:rPr sz="2750" spc="-760" dirty="0">
                <a:solidFill>
                  <a:srgbClr val="000000"/>
                </a:solidFill>
                <a:latin typeface="Arial"/>
                <a:cs typeface="Arial"/>
              </a:rPr>
              <a:t>M</a:t>
            </a:r>
            <a:r>
              <a:rPr sz="2750" spc="-125" dirty="0">
                <a:solidFill>
                  <a:srgbClr val="000000"/>
                </a:solidFill>
                <a:latin typeface="Arial"/>
                <a:cs typeface="Arial"/>
              </a:rPr>
              <a:t>.</a:t>
            </a:r>
            <a:r>
              <a:rPr sz="2750" spc="-355" dirty="0">
                <a:solidFill>
                  <a:srgbClr val="000000"/>
                </a:solidFill>
                <a:latin typeface="Arial"/>
                <a:cs typeface="Arial"/>
              </a:rPr>
              <a:t> </a:t>
            </a:r>
            <a:r>
              <a:rPr sz="2750" spc="-770" dirty="0">
                <a:solidFill>
                  <a:srgbClr val="000000"/>
                </a:solidFill>
                <a:latin typeface="Arial"/>
                <a:cs typeface="Arial"/>
              </a:rPr>
              <a:t>V</a:t>
            </a:r>
            <a:r>
              <a:rPr sz="2750" spc="-475" dirty="0">
                <a:solidFill>
                  <a:srgbClr val="000000"/>
                </a:solidFill>
                <a:latin typeface="Arial"/>
                <a:cs typeface="Arial"/>
              </a:rPr>
              <a:t>a</a:t>
            </a:r>
            <a:r>
              <a:rPr sz="2750" spc="-575" dirty="0">
                <a:solidFill>
                  <a:srgbClr val="000000"/>
                </a:solidFill>
                <a:latin typeface="Arial"/>
                <a:cs typeface="Arial"/>
              </a:rPr>
              <a:t>n</a:t>
            </a:r>
            <a:r>
              <a:rPr sz="2750" spc="-105" dirty="0">
                <a:solidFill>
                  <a:srgbClr val="000000"/>
                </a:solidFill>
                <a:latin typeface="Arial"/>
                <a:cs typeface="Arial"/>
              </a:rPr>
              <a:t>i</a:t>
            </a:r>
            <a:r>
              <a:rPr sz="2750" spc="-484" dirty="0">
                <a:solidFill>
                  <a:srgbClr val="000000"/>
                </a:solidFill>
                <a:latin typeface="Arial"/>
                <a:cs typeface="Arial"/>
              </a:rPr>
              <a:t> </a:t>
            </a:r>
            <a:r>
              <a:rPr sz="2750" spc="-785" dirty="0">
                <a:solidFill>
                  <a:srgbClr val="000000"/>
                </a:solidFill>
                <a:latin typeface="Arial"/>
                <a:cs typeface="Arial"/>
              </a:rPr>
              <a:t>B</a:t>
            </a:r>
            <a:r>
              <a:rPr sz="2750" spc="-484" dirty="0">
                <a:solidFill>
                  <a:srgbClr val="000000"/>
                </a:solidFill>
                <a:latin typeface="Arial"/>
                <a:cs typeface="Arial"/>
              </a:rPr>
              <a:t>a</a:t>
            </a:r>
            <a:r>
              <a:rPr sz="2750" spc="-280" dirty="0">
                <a:solidFill>
                  <a:srgbClr val="000000"/>
                </a:solidFill>
                <a:latin typeface="Arial"/>
                <a:cs typeface="Arial"/>
              </a:rPr>
              <a:t>t</a:t>
            </a:r>
            <a:r>
              <a:rPr sz="2750" spc="-495" dirty="0">
                <a:solidFill>
                  <a:srgbClr val="000000"/>
                </a:solidFill>
                <a:latin typeface="Arial"/>
                <a:cs typeface="Arial"/>
              </a:rPr>
              <a:t>c</a:t>
            </a:r>
            <a:r>
              <a:rPr sz="2750" spc="55" dirty="0">
                <a:solidFill>
                  <a:srgbClr val="000000"/>
                </a:solidFill>
                <a:latin typeface="Arial"/>
                <a:cs typeface="Arial"/>
              </a:rPr>
              <a:t>h</a:t>
            </a:r>
            <a:r>
              <a:rPr sz="2750" spc="-585" dirty="0">
                <a:solidFill>
                  <a:srgbClr val="000000"/>
                </a:solidFill>
                <a:latin typeface="Arial"/>
                <a:cs typeface="Arial"/>
              </a:rPr>
              <a:t>n</a:t>
            </a:r>
            <a:r>
              <a:rPr sz="2750" spc="-635" dirty="0">
                <a:solidFill>
                  <a:srgbClr val="000000"/>
                </a:solidFill>
                <a:latin typeface="Arial"/>
                <a:cs typeface="Arial"/>
              </a:rPr>
              <a:t>o</a:t>
            </a:r>
            <a:r>
              <a:rPr sz="2750" spc="-114" dirty="0">
                <a:solidFill>
                  <a:srgbClr val="000000"/>
                </a:solidFill>
                <a:latin typeface="Arial"/>
                <a:cs typeface="Arial"/>
              </a:rPr>
              <a:t>:</a:t>
            </a:r>
            <a:r>
              <a:rPr sz="2750" spc="-405" dirty="0">
                <a:solidFill>
                  <a:srgbClr val="000000"/>
                </a:solidFill>
                <a:latin typeface="Arial"/>
                <a:cs typeface="Arial"/>
              </a:rPr>
              <a:t> </a:t>
            </a:r>
            <a:r>
              <a:rPr sz="2750" spc="-280" dirty="0">
                <a:solidFill>
                  <a:srgbClr val="000000"/>
                </a:solidFill>
                <a:latin typeface="Arial"/>
                <a:cs typeface="Arial"/>
              </a:rPr>
              <a:t>435</a:t>
            </a:r>
            <a:endParaRPr sz="2750" dirty="0">
              <a:latin typeface="Arial"/>
              <a:cs typeface="Arial"/>
            </a:endParaRPr>
          </a:p>
          <a:p>
            <a:pPr marL="12700">
              <a:lnSpc>
                <a:spcPct val="100000"/>
              </a:lnSpc>
              <a:spcBef>
                <a:spcPts val="85"/>
              </a:spcBef>
            </a:pPr>
            <a:r>
              <a:rPr sz="2750" spc="-310" dirty="0">
                <a:solidFill>
                  <a:srgbClr val="000000"/>
                </a:solidFill>
                <a:latin typeface="Arial"/>
                <a:cs typeface="Arial"/>
              </a:rPr>
              <a:t>I</a:t>
            </a:r>
            <a:r>
              <a:rPr sz="2750" spc="-455" dirty="0">
                <a:solidFill>
                  <a:srgbClr val="000000"/>
                </a:solidFill>
                <a:latin typeface="Arial"/>
                <a:cs typeface="Arial"/>
              </a:rPr>
              <a:t>n</a:t>
            </a:r>
            <a:r>
              <a:rPr sz="2750" spc="-535" dirty="0">
                <a:solidFill>
                  <a:srgbClr val="000000"/>
                </a:solidFill>
                <a:latin typeface="Arial"/>
                <a:cs typeface="Arial"/>
              </a:rPr>
              <a:t>n</a:t>
            </a:r>
            <a:r>
              <a:rPr sz="2750" spc="-585" dirty="0">
                <a:solidFill>
                  <a:srgbClr val="000000"/>
                </a:solidFill>
                <a:latin typeface="Arial"/>
                <a:cs typeface="Arial"/>
              </a:rPr>
              <a:t>o</a:t>
            </a:r>
            <a:r>
              <a:rPr sz="2750" spc="-670" dirty="0">
                <a:solidFill>
                  <a:srgbClr val="000000"/>
                </a:solidFill>
                <a:latin typeface="Arial"/>
                <a:cs typeface="Arial"/>
              </a:rPr>
              <a:t>m</a:t>
            </a:r>
            <a:r>
              <a:rPr sz="2750" spc="-425" dirty="0">
                <a:solidFill>
                  <a:srgbClr val="000000"/>
                </a:solidFill>
                <a:latin typeface="Arial"/>
                <a:cs typeface="Arial"/>
              </a:rPr>
              <a:t>a</a:t>
            </a:r>
            <a:r>
              <a:rPr sz="2750" spc="-240" dirty="0">
                <a:solidFill>
                  <a:srgbClr val="000000"/>
                </a:solidFill>
                <a:latin typeface="Arial"/>
                <a:cs typeface="Arial"/>
              </a:rPr>
              <a:t>t</a:t>
            </a:r>
            <a:r>
              <a:rPr sz="2750" spc="-260" dirty="0">
                <a:solidFill>
                  <a:srgbClr val="000000"/>
                </a:solidFill>
                <a:latin typeface="Arial"/>
                <a:cs typeface="Arial"/>
              </a:rPr>
              <a:t>i</a:t>
            </a:r>
            <a:r>
              <a:rPr sz="2750" spc="-445" dirty="0">
                <a:solidFill>
                  <a:srgbClr val="000000"/>
                </a:solidFill>
                <a:latin typeface="Arial"/>
                <a:cs typeface="Arial"/>
              </a:rPr>
              <a:t>c</a:t>
            </a:r>
            <a:r>
              <a:rPr sz="2750" spc="75" dirty="0">
                <a:solidFill>
                  <a:srgbClr val="000000"/>
                </a:solidFill>
                <a:latin typeface="Arial"/>
                <a:cs typeface="Arial"/>
              </a:rPr>
              <a:t>s</a:t>
            </a:r>
            <a:r>
              <a:rPr sz="2750" spc="-400" dirty="0">
                <a:solidFill>
                  <a:srgbClr val="000000"/>
                </a:solidFill>
                <a:latin typeface="Arial"/>
                <a:cs typeface="Arial"/>
              </a:rPr>
              <a:t>r</a:t>
            </a:r>
            <a:r>
              <a:rPr sz="2750" spc="-445" dirty="0">
                <a:solidFill>
                  <a:srgbClr val="000000"/>
                </a:solidFill>
                <a:latin typeface="Arial"/>
                <a:cs typeface="Arial"/>
              </a:rPr>
              <a:t>e</a:t>
            </a:r>
            <a:r>
              <a:rPr sz="2750" spc="-490" dirty="0">
                <a:solidFill>
                  <a:srgbClr val="000000"/>
                </a:solidFill>
                <a:latin typeface="Arial"/>
                <a:cs typeface="Arial"/>
              </a:rPr>
              <a:t>s</a:t>
            </a:r>
            <a:r>
              <a:rPr sz="2750" spc="-520" dirty="0">
                <a:solidFill>
                  <a:srgbClr val="000000"/>
                </a:solidFill>
                <a:latin typeface="Arial"/>
                <a:cs typeface="Arial"/>
              </a:rPr>
              <a:t>e</a:t>
            </a:r>
            <a:r>
              <a:rPr sz="2750" spc="-425" dirty="0">
                <a:solidFill>
                  <a:srgbClr val="000000"/>
                </a:solidFill>
                <a:latin typeface="Arial"/>
                <a:cs typeface="Arial"/>
              </a:rPr>
              <a:t>a</a:t>
            </a:r>
            <a:r>
              <a:rPr sz="2750" spc="-335" dirty="0">
                <a:solidFill>
                  <a:srgbClr val="000000"/>
                </a:solidFill>
                <a:latin typeface="Arial"/>
                <a:cs typeface="Arial"/>
              </a:rPr>
              <a:t>r</a:t>
            </a:r>
            <a:r>
              <a:rPr sz="2750" spc="-445" dirty="0">
                <a:solidFill>
                  <a:srgbClr val="000000"/>
                </a:solidFill>
                <a:latin typeface="Arial"/>
                <a:cs typeface="Arial"/>
              </a:rPr>
              <a:t>c</a:t>
            </a:r>
            <a:r>
              <a:rPr sz="2750" spc="110" dirty="0">
                <a:solidFill>
                  <a:srgbClr val="000000"/>
                </a:solidFill>
                <a:latin typeface="Arial"/>
                <a:cs typeface="Arial"/>
              </a:rPr>
              <a:t>h</a:t>
            </a:r>
            <a:r>
              <a:rPr sz="2750" spc="-265" dirty="0">
                <a:solidFill>
                  <a:srgbClr val="000000"/>
                </a:solidFill>
                <a:latin typeface="Arial"/>
                <a:cs typeface="Arial"/>
              </a:rPr>
              <a:t>l</a:t>
            </a:r>
            <a:r>
              <a:rPr sz="2750" spc="-425" dirty="0">
                <a:solidFill>
                  <a:srgbClr val="000000"/>
                </a:solidFill>
                <a:latin typeface="Arial"/>
                <a:cs typeface="Arial"/>
              </a:rPr>
              <a:t>a</a:t>
            </a:r>
            <a:r>
              <a:rPr sz="2750" spc="-505" dirty="0">
                <a:solidFill>
                  <a:srgbClr val="000000"/>
                </a:solidFill>
                <a:latin typeface="Arial"/>
                <a:cs typeface="Arial"/>
              </a:rPr>
              <a:t>b</a:t>
            </a:r>
            <a:r>
              <a:rPr sz="2750" spc="-65" dirty="0">
                <a:solidFill>
                  <a:srgbClr val="000000"/>
                </a:solidFill>
                <a:latin typeface="Arial"/>
                <a:cs typeface="Arial"/>
              </a:rPr>
              <a:t>s</a:t>
            </a:r>
            <a:endParaRPr sz="2750" dirty="0">
              <a:latin typeface="Arial"/>
              <a:cs typeface="Arial"/>
            </a:endParaRPr>
          </a:p>
        </p:txBody>
      </p:sp>
      <p:pic>
        <p:nvPicPr>
          <p:cNvPr id="3" name="Google Shape;98;p1">
            <a:extLst>
              <a:ext uri="{FF2B5EF4-FFF2-40B4-BE49-F238E27FC236}">
                <a16:creationId xmlns:a16="http://schemas.microsoft.com/office/drawing/2014/main" id="{9402AD8C-817C-A619-1F9E-05E9DCEAB9C8}"/>
              </a:ext>
            </a:extLst>
          </p:cNvPr>
          <p:cNvPicPr preferRelativeResize="0"/>
          <p:nvPr/>
        </p:nvPicPr>
        <p:blipFill rotWithShape="1">
          <a:blip r:embed="rId2">
            <a:alphaModFix/>
          </a:blip>
          <a:srcRect/>
          <a:stretch/>
        </p:blipFill>
        <p:spPr>
          <a:xfrm>
            <a:off x="592" y="0"/>
            <a:ext cx="12190815" cy="6694098"/>
          </a:xfrm>
          <a:prstGeom prst="rect">
            <a:avLst/>
          </a:prstGeom>
          <a:noFill/>
          <a:ln>
            <a:noFill/>
          </a:ln>
        </p:spPr>
      </p:pic>
      <p:sp>
        <p:nvSpPr>
          <p:cNvPr id="4" name="Google Shape;99;p1">
            <a:extLst>
              <a:ext uri="{FF2B5EF4-FFF2-40B4-BE49-F238E27FC236}">
                <a16:creationId xmlns:a16="http://schemas.microsoft.com/office/drawing/2014/main" id="{4463A9E9-3262-56C4-7D42-46D56F6097DC}"/>
              </a:ext>
            </a:extLst>
          </p:cNvPr>
          <p:cNvSpPr txBox="1"/>
          <p:nvPr/>
        </p:nvSpPr>
        <p:spPr>
          <a:xfrm>
            <a:off x="2320504" y="3239015"/>
            <a:ext cx="7246189" cy="1200288"/>
          </a:xfrm>
          <a:prstGeom prst="rect">
            <a:avLst/>
          </a:prstGeom>
          <a:noFill/>
          <a:ln>
            <a:noFill/>
          </a:ln>
        </p:spPr>
        <p:txBody>
          <a:bodyPr spcFirstLastPara="1" wrap="square" lIns="91425" tIns="45700" rIns="91425" bIns="45700" anchor="t" anchorCtr="0">
            <a:spAutoFit/>
          </a:bodyPr>
          <a:lstStyle/>
          <a:p>
            <a:pPr lvl="0" algn="ctr">
              <a:buSzPts val="1800"/>
            </a:pPr>
            <a:endParaRPr lang="en-IN" sz="3600" b="1" dirty="0"/>
          </a:p>
          <a:p>
            <a:pPr lvl="0" algn="ctr">
              <a:buSzPts val="1800"/>
            </a:pPr>
            <a:r>
              <a:rPr lang="en-IN" sz="3600" b="1" dirty="0">
                <a:latin typeface="Times New Roman" panose="02020603050405020304" pitchFamily="18" charset="0"/>
                <a:cs typeface="Times New Roman" panose="02020603050405020304" pitchFamily="18" charset="0"/>
              </a:rPr>
              <a:t>CUSTOMER CHURN ANALYSIS</a:t>
            </a:r>
            <a:endParaRPr sz="36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5" name="TextBox 4">
            <a:extLst>
              <a:ext uri="{FF2B5EF4-FFF2-40B4-BE49-F238E27FC236}">
                <a16:creationId xmlns:a16="http://schemas.microsoft.com/office/drawing/2014/main" id="{E69AD336-860F-D4AD-4844-39CE2DF7E866}"/>
              </a:ext>
            </a:extLst>
          </p:cNvPr>
          <p:cNvSpPr txBox="1"/>
          <p:nvPr/>
        </p:nvSpPr>
        <p:spPr>
          <a:xfrm>
            <a:off x="6814542" y="4794263"/>
            <a:ext cx="4678392" cy="83099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   PRESENTED BY:</a:t>
            </a:r>
          </a:p>
          <a:p>
            <a:r>
              <a:rPr lang="en-US" sz="2400"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SATISH RAJESH KUMAR RAO</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48930" y="449107"/>
            <a:ext cx="10810567" cy="570669"/>
          </a:xfrm>
          <a:prstGeom prst="rect">
            <a:avLst/>
          </a:prstGeom>
        </p:spPr>
        <p:txBody>
          <a:bodyPr vert="horz" wrap="square" lIns="0" tIns="16510" rIns="0" bIns="0" rtlCol="0">
            <a:spAutoFit/>
          </a:bodyPr>
          <a:lstStyle/>
          <a:p>
            <a:pPr marL="229235" algn="ctr">
              <a:lnSpc>
                <a:spcPct val="100000"/>
              </a:lnSpc>
              <a:spcBef>
                <a:spcPts val="130"/>
              </a:spcBef>
            </a:pPr>
            <a:r>
              <a:rPr sz="3600" b="1" u="sng" spc="-10" dirty="0">
                <a:latin typeface="Times New Roman" panose="02020603050405020304" pitchFamily="18" charset="0"/>
                <a:cs typeface="Times New Roman" panose="02020603050405020304" pitchFamily="18" charset="0"/>
              </a:rPr>
              <a:t>A</a:t>
            </a:r>
            <a:r>
              <a:rPr lang="en-IN" sz="3600" b="1" u="sng" spc="-10" dirty="0">
                <a:latin typeface="Times New Roman" panose="02020603050405020304" pitchFamily="18" charset="0"/>
                <a:cs typeface="Times New Roman" panose="02020603050405020304" pitchFamily="18" charset="0"/>
              </a:rPr>
              <a:t>GENDA</a:t>
            </a:r>
            <a:endParaRPr sz="3600" b="1" u="sng" spc="-10" dirty="0">
              <a:latin typeface="Times New Roman" panose="02020603050405020304" pitchFamily="18" charset="0"/>
              <a:cs typeface="Times New Roman" panose="02020603050405020304" pitchFamily="18" charset="0"/>
            </a:endParaRPr>
          </a:p>
        </p:txBody>
      </p:sp>
      <p:sp>
        <p:nvSpPr>
          <p:cNvPr id="3" name="object 3"/>
          <p:cNvSpPr txBox="1"/>
          <p:nvPr/>
        </p:nvSpPr>
        <p:spPr>
          <a:xfrm>
            <a:off x="870155" y="1382649"/>
            <a:ext cx="10589342" cy="4365619"/>
          </a:xfrm>
          <a:prstGeom prst="rect">
            <a:avLst/>
          </a:prstGeom>
        </p:spPr>
        <p:txBody>
          <a:bodyPr vert="horz" wrap="square" lIns="0" tIns="16510" rIns="0" bIns="0" rtlCol="0">
            <a:spAutoFit/>
          </a:bodyPr>
          <a:lstStyle/>
          <a:p>
            <a:pPr marL="297815" indent="-285115">
              <a:lnSpc>
                <a:spcPts val="3829"/>
              </a:lnSpc>
              <a:buFont typeface="Arial"/>
              <a:buChar char="•"/>
              <a:tabLst>
                <a:tab pos="297815" algn="l"/>
              </a:tabLst>
            </a:pPr>
            <a:r>
              <a:rPr lang="en-IN" sz="2400" spc="-105" dirty="0">
                <a:latin typeface="Times New Roman" panose="02020603050405020304" pitchFamily="18" charset="0"/>
                <a:cs typeface="Times New Roman" panose="02020603050405020304" pitchFamily="18" charset="0"/>
              </a:rPr>
              <a:t>PROBLEM </a:t>
            </a:r>
            <a:r>
              <a:rPr lang="en-IN" sz="2400" spc="-10" dirty="0">
                <a:latin typeface="Times New Roman" panose="02020603050405020304" pitchFamily="18" charset="0"/>
                <a:cs typeface="Times New Roman" panose="02020603050405020304" pitchFamily="18" charset="0"/>
              </a:rPr>
              <a:t>STATEMENT</a:t>
            </a:r>
            <a:endParaRPr lang="en-IN" sz="2400" dirty="0">
              <a:latin typeface="Times New Roman" panose="02020603050405020304" pitchFamily="18" charset="0"/>
              <a:cs typeface="Times New Roman" panose="02020603050405020304" pitchFamily="18" charset="0"/>
            </a:endParaRPr>
          </a:p>
          <a:p>
            <a:pPr marL="297815" indent="-285115">
              <a:lnSpc>
                <a:spcPts val="3835"/>
              </a:lnSpc>
              <a:buFont typeface="Arial"/>
              <a:buChar char="•"/>
              <a:tabLst>
                <a:tab pos="297815" algn="l"/>
              </a:tabLst>
            </a:pPr>
            <a:r>
              <a:rPr lang="en-IN" sz="2400" dirty="0">
                <a:latin typeface="Times New Roman" panose="02020603050405020304" pitchFamily="18" charset="0"/>
                <a:cs typeface="Times New Roman" panose="02020603050405020304" pitchFamily="18" charset="0"/>
              </a:rPr>
              <a:t>PROJECT OBJECTIVE</a:t>
            </a:r>
          </a:p>
          <a:p>
            <a:pPr marL="297815" indent="-285115">
              <a:lnSpc>
                <a:spcPts val="3835"/>
              </a:lnSpc>
              <a:buFont typeface="Arial"/>
              <a:buChar char="•"/>
              <a:tabLst>
                <a:tab pos="297815" algn="l"/>
              </a:tabLst>
            </a:pPr>
            <a:r>
              <a:rPr lang="en-IN" sz="2400" dirty="0">
                <a:latin typeface="Times New Roman" panose="02020603050405020304" pitchFamily="18" charset="0"/>
                <a:cs typeface="Times New Roman" panose="02020603050405020304" pitchFamily="18" charset="0"/>
              </a:rPr>
              <a:t>PROJECT OVERVIEW</a:t>
            </a:r>
          </a:p>
          <a:p>
            <a:pPr marL="297815" indent="-285115">
              <a:lnSpc>
                <a:spcPts val="3835"/>
              </a:lnSpc>
              <a:spcBef>
                <a:spcPts val="65"/>
              </a:spcBef>
              <a:buFont typeface="Arial"/>
              <a:buChar char="•"/>
              <a:tabLst>
                <a:tab pos="297815" algn="l"/>
              </a:tabLst>
            </a:pPr>
            <a:r>
              <a:rPr lang="en-IN" sz="2400" dirty="0">
                <a:latin typeface="Times New Roman" panose="02020603050405020304" pitchFamily="18" charset="0"/>
                <a:cs typeface="Times New Roman" panose="02020603050405020304" pitchFamily="18" charset="0"/>
              </a:rPr>
              <a:t>DATA</a:t>
            </a:r>
            <a:r>
              <a:rPr lang="en-IN" sz="2400" spc="-150" dirty="0">
                <a:latin typeface="Times New Roman" panose="02020603050405020304" pitchFamily="18" charset="0"/>
                <a:cs typeface="Times New Roman" panose="02020603050405020304" pitchFamily="18" charset="0"/>
              </a:rPr>
              <a:t> </a:t>
            </a:r>
            <a:r>
              <a:rPr lang="en-IN" sz="2400" spc="-10" dirty="0">
                <a:latin typeface="Times New Roman" panose="02020603050405020304" pitchFamily="18" charset="0"/>
                <a:cs typeface="Times New Roman" panose="02020603050405020304" pitchFamily="18" charset="0"/>
              </a:rPr>
              <a:t>PREPARATION</a:t>
            </a:r>
            <a:endParaRPr lang="en-IN" sz="2400" dirty="0">
              <a:latin typeface="Times New Roman" panose="02020603050405020304" pitchFamily="18" charset="0"/>
              <a:cs typeface="Times New Roman" panose="02020603050405020304" pitchFamily="18" charset="0"/>
            </a:endParaRPr>
          </a:p>
          <a:p>
            <a:pPr marL="297815" indent="-285115">
              <a:lnSpc>
                <a:spcPts val="3829"/>
              </a:lnSpc>
              <a:buFont typeface="Arial"/>
              <a:buChar char="•"/>
              <a:tabLst>
                <a:tab pos="297815" algn="l"/>
              </a:tabLst>
            </a:pPr>
            <a:r>
              <a:rPr lang="en-IN" sz="2400" dirty="0">
                <a:latin typeface="Times New Roman" panose="02020603050405020304" pitchFamily="18" charset="0"/>
                <a:cs typeface="Times New Roman" panose="02020603050405020304" pitchFamily="18" charset="0"/>
              </a:rPr>
              <a:t>DASHBOARD</a:t>
            </a:r>
            <a:r>
              <a:rPr lang="en-IN" sz="2400" spc="-145" dirty="0">
                <a:latin typeface="Times New Roman" panose="02020603050405020304" pitchFamily="18" charset="0"/>
                <a:cs typeface="Times New Roman" panose="02020603050405020304" pitchFamily="18" charset="0"/>
              </a:rPr>
              <a:t> </a:t>
            </a:r>
            <a:r>
              <a:rPr lang="en-IN" sz="2400" spc="-10" dirty="0">
                <a:latin typeface="Times New Roman" panose="02020603050405020304" pitchFamily="18" charset="0"/>
                <a:cs typeface="Times New Roman" panose="02020603050405020304" pitchFamily="18" charset="0"/>
              </a:rPr>
              <a:t>VISUALIZATIONS</a:t>
            </a:r>
          </a:p>
          <a:p>
            <a:pPr marL="297815" indent="-285115">
              <a:lnSpc>
                <a:spcPts val="3829"/>
              </a:lnSpc>
              <a:buFont typeface="Arial"/>
              <a:buChar char="•"/>
              <a:tabLst>
                <a:tab pos="297815" algn="l"/>
              </a:tabLst>
            </a:pPr>
            <a:r>
              <a:rPr lang="en-IN" sz="2400" dirty="0">
                <a:latin typeface="Times New Roman" panose="02020603050405020304" pitchFamily="18" charset="0"/>
                <a:cs typeface="Times New Roman" panose="02020603050405020304" pitchFamily="18" charset="0"/>
              </a:rPr>
              <a:t>KEY INSIGHTS &amp; FINDINGS </a:t>
            </a:r>
          </a:p>
          <a:p>
            <a:pPr marL="297815" indent="-285115">
              <a:lnSpc>
                <a:spcPts val="3829"/>
              </a:lnSpc>
              <a:buFont typeface="Arial"/>
              <a:buChar char="•"/>
              <a:tabLst>
                <a:tab pos="297815" algn="l"/>
              </a:tabLst>
            </a:pPr>
            <a:r>
              <a:rPr lang="en-IN" sz="2400" dirty="0">
                <a:latin typeface="Times New Roman" panose="02020603050405020304" pitchFamily="18" charset="0"/>
                <a:cs typeface="Times New Roman" panose="02020603050405020304" pitchFamily="18" charset="0"/>
              </a:rPr>
              <a:t>APPLICATIONS</a:t>
            </a:r>
            <a:r>
              <a:rPr lang="en-IN" sz="2400" spc="-65"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&amp;</a:t>
            </a:r>
            <a:r>
              <a:rPr lang="en-IN" sz="2400" spc="-160" dirty="0">
                <a:latin typeface="Times New Roman" panose="02020603050405020304" pitchFamily="18" charset="0"/>
                <a:cs typeface="Times New Roman" panose="02020603050405020304" pitchFamily="18" charset="0"/>
              </a:rPr>
              <a:t> </a:t>
            </a:r>
            <a:r>
              <a:rPr lang="en-IN" sz="2400" spc="-10" dirty="0">
                <a:latin typeface="Times New Roman" panose="02020603050405020304" pitchFamily="18" charset="0"/>
                <a:cs typeface="Times New Roman" panose="02020603050405020304" pitchFamily="18" charset="0"/>
              </a:rPr>
              <a:t>RECOMMENDATIONS</a:t>
            </a:r>
          </a:p>
          <a:p>
            <a:pPr marL="297815" indent="-285115">
              <a:lnSpc>
                <a:spcPts val="3829"/>
              </a:lnSpc>
              <a:buFont typeface="Arial"/>
              <a:buChar char="•"/>
              <a:tabLst>
                <a:tab pos="297815" algn="l"/>
              </a:tabLst>
            </a:pPr>
            <a:r>
              <a:rPr lang="en-IN" sz="2400" spc="-10" dirty="0">
                <a:latin typeface="Times New Roman" panose="02020603050405020304" pitchFamily="18" charset="0"/>
                <a:cs typeface="Times New Roman" panose="02020603050405020304" pitchFamily="18" charset="0"/>
              </a:rPr>
              <a:t>CHALLENGES FACED</a:t>
            </a:r>
            <a:endParaRPr lang="en-IN" sz="2400" dirty="0">
              <a:latin typeface="Times New Roman" panose="02020603050405020304" pitchFamily="18" charset="0"/>
              <a:cs typeface="Times New Roman" panose="02020603050405020304" pitchFamily="18" charset="0"/>
            </a:endParaRPr>
          </a:p>
          <a:p>
            <a:pPr marL="297815" indent="-285115">
              <a:lnSpc>
                <a:spcPts val="3829"/>
              </a:lnSpc>
              <a:buFont typeface="Arial"/>
              <a:buChar char="•"/>
              <a:tabLst>
                <a:tab pos="297815" algn="l"/>
              </a:tabLst>
            </a:pPr>
            <a:r>
              <a:rPr lang="en-IN" sz="2400" spc="-10" dirty="0">
                <a:latin typeface="Times New Roman" panose="02020603050405020304" pitchFamily="18" charset="0"/>
                <a:cs typeface="Times New Roman" panose="02020603050405020304" pitchFamily="18" charset="0"/>
              </a:rPr>
              <a:t>CONCLUSION</a:t>
            </a:r>
            <a:endParaRPr lang="en-IN" sz="2400" dirty="0">
              <a:latin typeface="Times New Roman" panose="02020603050405020304" pitchFamily="18" charset="0"/>
              <a:cs typeface="Times New Roman" panose="02020603050405020304" pitchFamily="18" charset="0"/>
            </a:endParaRP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16195" y="319666"/>
            <a:ext cx="11105534" cy="570669"/>
          </a:xfrm>
          <a:prstGeom prst="rect">
            <a:avLst/>
          </a:prstGeom>
        </p:spPr>
        <p:txBody>
          <a:bodyPr vert="horz" wrap="square" lIns="0" tIns="16510" rIns="0" bIns="0" rtlCol="0">
            <a:spAutoFit/>
          </a:bodyPr>
          <a:lstStyle/>
          <a:p>
            <a:pPr marL="12700" algn="ctr">
              <a:lnSpc>
                <a:spcPct val="100000"/>
              </a:lnSpc>
              <a:spcBef>
                <a:spcPts val="130"/>
              </a:spcBef>
            </a:pPr>
            <a:r>
              <a:rPr lang="en-IN" sz="3600" b="1" u="sng" spc="-10" dirty="0">
                <a:latin typeface="Times New Roman" panose="02020603050405020304" pitchFamily="18" charset="0"/>
                <a:cs typeface="Times New Roman" panose="02020603050405020304" pitchFamily="18" charset="0"/>
              </a:rPr>
              <a:t>PROBLEM STATEMENT</a:t>
            </a: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
        <p:nvSpPr>
          <p:cNvPr id="3" name="TextBox 2">
            <a:extLst>
              <a:ext uri="{FF2B5EF4-FFF2-40B4-BE49-F238E27FC236}">
                <a16:creationId xmlns:a16="http://schemas.microsoft.com/office/drawing/2014/main" id="{17647F8D-C979-C67D-58FC-B9A34A69B1C6}"/>
              </a:ext>
            </a:extLst>
          </p:cNvPr>
          <p:cNvSpPr txBox="1"/>
          <p:nvPr/>
        </p:nvSpPr>
        <p:spPr>
          <a:xfrm>
            <a:off x="516194" y="1179871"/>
            <a:ext cx="11105533" cy="452431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telecom company is experiencing increasing customer churn, which is impacting revenue, customer lifetime value, and overall business growth. Although large amounts of customer data are available, the company lacks clear insights into the reasons behind churn and is unable to identify customers who are most likely to leave. This project focuses on identifying the main drivers of churn and detecting high-risk customers using Power BI dashboards. The insights generated will help the company make informed decisions, improve retention strategies, and reduce customer churn.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To address this challenge, a data-driven approach is needed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customer behaviour, service usage, and demographic patterns. Key factors such as contract type, monthly charges, internet services, and customer support play an important role in influencing churn.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4F81-2567-F1DF-56B8-2D7AA9007328}"/>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57976E78-AAA7-CF54-8BAA-C31117C0EF53}"/>
              </a:ext>
            </a:extLst>
          </p:cNvPr>
          <p:cNvSpPr txBox="1">
            <a:spLocks noGrp="1"/>
          </p:cNvSpPr>
          <p:nvPr>
            <p:ph type="title"/>
          </p:nvPr>
        </p:nvSpPr>
        <p:spPr>
          <a:xfrm>
            <a:off x="838200" y="314231"/>
            <a:ext cx="10591800" cy="570669"/>
          </a:xfrm>
          <a:prstGeom prst="rect">
            <a:avLst/>
          </a:prstGeom>
        </p:spPr>
        <p:txBody>
          <a:bodyPr vert="horz" wrap="square" lIns="0" tIns="16510" rIns="0" bIns="0" rtlCol="0">
            <a:spAutoFit/>
          </a:bodyPr>
          <a:lstStyle/>
          <a:p>
            <a:pPr marL="12700" algn="ctr">
              <a:lnSpc>
                <a:spcPct val="100000"/>
              </a:lnSpc>
              <a:spcBef>
                <a:spcPts val="130"/>
              </a:spcBef>
            </a:pPr>
            <a:r>
              <a:rPr lang="en-IN" sz="3600" b="1" u="sng" dirty="0">
                <a:latin typeface="Times New Roman" panose="02020603050405020304" pitchFamily="18" charset="0"/>
                <a:cs typeface="Times New Roman" panose="02020603050405020304" pitchFamily="18" charset="0"/>
              </a:rPr>
              <a:t>PROJECT OBJECTIVE</a:t>
            </a:r>
            <a:endParaRPr lang="en-IN" sz="3600" b="1" u="sng" spc="-10" dirty="0">
              <a:latin typeface="Times New Roman" panose="02020603050405020304" pitchFamily="18" charset="0"/>
              <a:cs typeface="Times New Roman" panose="02020603050405020304" pitchFamily="18" charset="0"/>
            </a:endParaRPr>
          </a:p>
        </p:txBody>
      </p:sp>
      <p:pic>
        <p:nvPicPr>
          <p:cNvPr id="4" name="object 4" descr="Innomatics Research labs - Crunchbase Company Profile &amp; Funding">
            <a:extLst>
              <a:ext uri="{FF2B5EF4-FFF2-40B4-BE49-F238E27FC236}">
                <a16:creationId xmlns:a16="http://schemas.microsoft.com/office/drawing/2014/main" id="{C24E13E9-B7EE-8056-57EE-33D0DE636965}"/>
              </a:ext>
            </a:extLst>
          </p:cNvPr>
          <p:cNvPicPr/>
          <p:nvPr/>
        </p:nvPicPr>
        <p:blipFill>
          <a:blip r:embed="rId2" cstate="print"/>
          <a:stretch>
            <a:fillRect/>
          </a:stretch>
        </p:blipFill>
        <p:spPr>
          <a:xfrm>
            <a:off x="9648825" y="6257925"/>
            <a:ext cx="2333625" cy="428625"/>
          </a:xfrm>
          <a:prstGeom prst="rect">
            <a:avLst/>
          </a:prstGeom>
        </p:spPr>
      </p:pic>
      <p:sp>
        <p:nvSpPr>
          <p:cNvPr id="3" name="TextBox 2">
            <a:extLst>
              <a:ext uri="{FF2B5EF4-FFF2-40B4-BE49-F238E27FC236}">
                <a16:creationId xmlns:a16="http://schemas.microsoft.com/office/drawing/2014/main" id="{7807044C-6D89-34B5-DC30-907F6539C2A2}"/>
              </a:ext>
            </a:extLst>
          </p:cNvPr>
          <p:cNvSpPr txBox="1"/>
          <p:nvPr/>
        </p:nvSpPr>
        <p:spPr>
          <a:xfrm>
            <a:off x="838201" y="1268362"/>
            <a:ext cx="10591800" cy="2893100"/>
          </a:xfrm>
          <a:prstGeom prst="rect">
            <a:avLst/>
          </a:prstGeom>
          <a:noFill/>
        </p:spPr>
        <p:txBody>
          <a:bodyPr wrap="square" rtlCol="0">
            <a:spAutoFit/>
          </a:bodyPr>
          <a:lstStyle/>
          <a:p>
            <a:pPr marL="342900" lvl="0" indent="-342900" algn="just" eaLnBrk="0" fontAlgn="base" hangingPunct="0">
              <a:spcBef>
                <a:spcPct val="0"/>
              </a:spcBef>
              <a:spcAft>
                <a:spcPct val="0"/>
              </a:spcAf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To analyze customer churn data and identify the key factors driving customer churn.</a:t>
            </a:r>
          </a:p>
          <a:p>
            <a:pPr marL="285750" indent="-285750">
              <a:buFont typeface="Arial" panose="020B0604020202020204" pitchFamily="34" charset="0"/>
              <a:buChar char="•"/>
            </a:pPr>
            <a:r>
              <a:rPr lang="en-IN" sz="2600" dirty="0" err="1">
                <a:latin typeface="Times New Roman" panose="02020603050405020304" pitchFamily="18" charset="0"/>
                <a:cs typeface="Times New Roman" panose="02020603050405020304" pitchFamily="18" charset="0"/>
              </a:rPr>
              <a:t>Analyze</a:t>
            </a:r>
            <a:r>
              <a:rPr lang="en-IN" sz="2600" dirty="0">
                <a:latin typeface="Times New Roman" panose="02020603050405020304" pitchFamily="18" charset="0"/>
                <a:cs typeface="Times New Roman" panose="02020603050405020304" pitchFamily="18" charset="0"/>
              </a:rPr>
              <a:t> customer churn data to identify key factors driving churn.</a:t>
            </a:r>
          </a:p>
          <a:p>
            <a:pPr marL="285750" indent="-28575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Identify high-risk customer segments likely to churn.</a:t>
            </a:r>
          </a:p>
          <a:p>
            <a:pPr marL="285750" indent="-28575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Evaluate the impact of demographics, service usage, contract types, and billing methods.</a:t>
            </a:r>
          </a:p>
          <a:p>
            <a:pPr marL="285750" indent="-28575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Generate actionable insights to support customer retention strategies.</a:t>
            </a:r>
          </a:p>
        </p:txBody>
      </p:sp>
    </p:spTree>
    <p:extLst>
      <p:ext uri="{BB962C8B-B14F-4D97-AF65-F5344CB8AC3E}">
        <p14:creationId xmlns:p14="http://schemas.microsoft.com/office/powerpoint/2010/main" val="2224930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38200" y="371286"/>
            <a:ext cx="10813026" cy="570669"/>
          </a:xfrm>
          <a:prstGeom prst="rect">
            <a:avLst/>
          </a:prstGeom>
        </p:spPr>
        <p:txBody>
          <a:bodyPr vert="horz" wrap="square" lIns="0" tIns="16510" rIns="0" bIns="0" rtlCol="0">
            <a:spAutoFit/>
          </a:bodyPr>
          <a:lstStyle/>
          <a:p>
            <a:pPr algn="ctr">
              <a:lnSpc>
                <a:spcPct val="100000"/>
              </a:lnSpc>
              <a:spcBef>
                <a:spcPts val="130"/>
              </a:spcBef>
            </a:pPr>
            <a:r>
              <a:rPr lang="en-IN" sz="3600" b="1" u="sng" dirty="0">
                <a:latin typeface="Times New Roman" panose="02020603050405020304" pitchFamily="18" charset="0"/>
                <a:cs typeface="Times New Roman" panose="02020603050405020304" pitchFamily="18" charset="0"/>
              </a:rPr>
              <a:t>PROJECT</a:t>
            </a:r>
            <a:r>
              <a:rPr lang="en-IN" sz="3600" b="1" u="sng" spc="-45" dirty="0">
                <a:latin typeface="Times New Roman" panose="02020603050405020304" pitchFamily="18" charset="0"/>
                <a:cs typeface="Times New Roman" panose="02020603050405020304" pitchFamily="18" charset="0"/>
              </a:rPr>
              <a:t> </a:t>
            </a:r>
            <a:r>
              <a:rPr lang="en-IN" sz="3600" b="1" u="sng" spc="-10" dirty="0">
                <a:latin typeface="Times New Roman" panose="02020603050405020304" pitchFamily="18" charset="0"/>
                <a:cs typeface="Times New Roman" panose="02020603050405020304" pitchFamily="18" charset="0"/>
              </a:rPr>
              <a:t>OVERVIEW</a:t>
            </a:r>
          </a:p>
        </p:txBody>
      </p:sp>
      <p:pic>
        <p:nvPicPr>
          <p:cNvPr id="4" name="object 4" descr="Innomatics Research labs - Crunchbase Company Profile &amp; Funding"/>
          <p:cNvPicPr/>
          <p:nvPr/>
        </p:nvPicPr>
        <p:blipFill>
          <a:blip r:embed="rId2" cstate="print"/>
          <a:stretch>
            <a:fillRect/>
          </a:stretch>
        </p:blipFill>
        <p:spPr>
          <a:xfrm>
            <a:off x="9648825" y="6276975"/>
            <a:ext cx="2333625" cy="428625"/>
          </a:xfrm>
          <a:prstGeom prst="rect">
            <a:avLst/>
          </a:prstGeom>
        </p:spPr>
      </p:pic>
      <p:sp>
        <p:nvSpPr>
          <p:cNvPr id="8" name="Rectangle 4">
            <a:extLst>
              <a:ext uri="{FF2B5EF4-FFF2-40B4-BE49-F238E27FC236}">
                <a16:creationId xmlns:a16="http://schemas.microsoft.com/office/drawing/2014/main" id="{8B97FA0D-862C-A59F-C484-4D2DEB911E1F}"/>
              </a:ext>
            </a:extLst>
          </p:cNvPr>
          <p:cNvSpPr>
            <a:spLocks noChangeArrowheads="1"/>
          </p:cNvSpPr>
          <p:nvPr/>
        </p:nvSpPr>
        <p:spPr bwMode="auto">
          <a:xfrm>
            <a:off x="691832" y="1354119"/>
            <a:ext cx="1095939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project uses the Telco Customer Churn Dataset provided by a telecom company.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includes key information such as: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Customer demographics – gender, senior citizen status, partner, and dependents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Account details – tenure, contract type, payment method, and paperless billing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Services used – internet, phone, streaming TV, tech support, and security services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Billing data – monthly charges and total charges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target variable is Churn, which indicates whether a customer has left the service (Yes/No).</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Power BI dashboards were created to visualize churn rate, tenure patterns, service subscriptions, and billing insights.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analysis helps businesses identify high-risk customers and design effective retention strategies.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9599" y="249254"/>
            <a:ext cx="10953135" cy="570669"/>
          </a:xfrm>
          <a:prstGeom prst="rect">
            <a:avLst/>
          </a:prstGeom>
        </p:spPr>
        <p:txBody>
          <a:bodyPr vert="horz" wrap="square" lIns="0" tIns="16510" rIns="0" bIns="0" rtlCol="0">
            <a:spAutoFit/>
          </a:bodyPr>
          <a:lstStyle/>
          <a:p>
            <a:pPr marL="12700" algn="ctr">
              <a:lnSpc>
                <a:spcPct val="100000"/>
              </a:lnSpc>
              <a:spcBef>
                <a:spcPts val="130"/>
              </a:spcBef>
            </a:pPr>
            <a:r>
              <a:rPr sz="3600" b="1" u="sng" dirty="0">
                <a:latin typeface="Times New Roman" panose="02020603050405020304" pitchFamily="18" charset="0"/>
                <a:cs typeface="Times New Roman" panose="02020603050405020304" pitchFamily="18" charset="0"/>
              </a:rPr>
              <a:t>D</a:t>
            </a:r>
            <a:r>
              <a:rPr lang="en-IN" sz="3600" b="1" u="sng" dirty="0">
                <a:latin typeface="Times New Roman" panose="02020603050405020304" pitchFamily="18" charset="0"/>
                <a:cs typeface="Times New Roman" panose="02020603050405020304" pitchFamily="18" charset="0"/>
              </a:rPr>
              <a:t>ATA</a:t>
            </a:r>
            <a:r>
              <a:rPr lang="en-IN" sz="3600" b="1" u="sng" spc="40" dirty="0">
                <a:latin typeface="Times New Roman" panose="02020603050405020304" pitchFamily="18" charset="0"/>
                <a:cs typeface="Times New Roman" panose="02020603050405020304" pitchFamily="18" charset="0"/>
              </a:rPr>
              <a:t> </a:t>
            </a:r>
            <a:r>
              <a:rPr lang="en-IN" sz="3600" b="1" u="sng" spc="-10" dirty="0">
                <a:latin typeface="Times New Roman" panose="02020603050405020304" pitchFamily="18" charset="0"/>
                <a:cs typeface="Times New Roman" panose="02020603050405020304" pitchFamily="18" charset="0"/>
              </a:rPr>
              <a:t>PREPARATION</a:t>
            </a:r>
          </a:p>
        </p:txBody>
      </p:sp>
      <p:pic>
        <p:nvPicPr>
          <p:cNvPr id="4" name="object 4" descr="Innomatics Research labs - Crunchbase Company Profile &amp; Funding"/>
          <p:cNvPicPr/>
          <p:nvPr/>
        </p:nvPicPr>
        <p:blipFill>
          <a:blip r:embed="rId2" cstate="print"/>
          <a:stretch>
            <a:fillRect/>
          </a:stretch>
        </p:blipFill>
        <p:spPr>
          <a:xfrm>
            <a:off x="9648825" y="6267450"/>
            <a:ext cx="2333625" cy="428625"/>
          </a:xfrm>
          <a:prstGeom prst="rect">
            <a:avLst/>
          </a:prstGeom>
        </p:spPr>
      </p:pic>
      <p:sp>
        <p:nvSpPr>
          <p:cNvPr id="5" name="Rectangle 1">
            <a:extLst>
              <a:ext uri="{FF2B5EF4-FFF2-40B4-BE49-F238E27FC236}">
                <a16:creationId xmlns:a16="http://schemas.microsoft.com/office/drawing/2014/main" id="{FEF484E3-C850-3101-54E9-1F8F1EAB657B}"/>
              </a:ext>
            </a:extLst>
          </p:cNvPr>
          <p:cNvSpPr>
            <a:spLocks noChangeArrowheads="1"/>
          </p:cNvSpPr>
          <p:nvPr/>
        </p:nvSpPr>
        <p:spPr bwMode="auto">
          <a:xfrm>
            <a:off x="620485" y="1067873"/>
            <a:ext cx="1095313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Imported the dataset into Power BI and performed data cleaning.</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Replaced null or blank values in Total Charges with “0”.</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Standardized entries by replacing "No internet service" with "No" in service-related columns: </a:t>
            </a:r>
          </a:p>
          <a:p>
            <a:pPr lvl="0" eaLnBrk="0" fontAlgn="base" hangingPunct="0">
              <a:spcBef>
                <a:spcPct val="0"/>
              </a:spcBef>
              <a:spcAft>
                <a:spcPct val="0"/>
              </a:spcAft>
            </a:pPr>
            <a:r>
              <a:rPr lang="en-IN" sz="2400" dirty="0">
                <a:latin typeface="Times New Roman" panose="02020603050405020304" pitchFamily="18" charset="0"/>
                <a:cs typeface="Times New Roman" panose="02020603050405020304" pitchFamily="18" charset="0"/>
              </a:rPr>
              <a:t>     • Online Security </a:t>
            </a:r>
          </a:p>
          <a:p>
            <a:pPr lvl="0" eaLnBrk="0" fontAlgn="base" hangingPunct="0">
              <a:spcBef>
                <a:spcPct val="0"/>
              </a:spcBef>
              <a:spcAft>
                <a:spcPct val="0"/>
              </a:spcAft>
            </a:pPr>
            <a:r>
              <a:rPr lang="en-IN" sz="2400" dirty="0">
                <a:latin typeface="Times New Roman" panose="02020603050405020304" pitchFamily="18" charset="0"/>
                <a:cs typeface="Times New Roman" panose="02020603050405020304" pitchFamily="18" charset="0"/>
              </a:rPr>
              <a:t>     • Online Backup </a:t>
            </a:r>
          </a:p>
          <a:p>
            <a:pPr lvl="0" eaLnBrk="0" fontAlgn="base" hangingPunct="0">
              <a:spcBef>
                <a:spcPct val="0"/>
              </a:spcBef>
              <a:spcAft>
                <a:spcPct val="0"/>
              </a:spcAft>
            </a:pPr>
            <a:r>
              <a:rPr lang="en-IN" sz="2400" dirty="0">
                <a:latin typeface="Times New Roman" panose="02020603050405020304" pitchFamily="18" charset="0"/>
                <a:cs typeface="Times New Roman" panose="02020603050405020304" pitchFamily="18" charset="0"/>
              </a:rPr>
              <a:t>     • Device Protection </a:t>
            </a:r>
          </a:p>
          <a:p>
            <a:pPr lvl="0" eaLnBrk="0" fontAlgn="base" hangingPunct="0">
              <a:spcBef>
                <a:spcPct val="0"/>
              </a:spcBef>
              <a:spcAft>
                <a:spcPct val="0"/>
              </a:spcAft>
            </a:pPr>
            <a:r>
              <a:rPr lang="en-IN" sz="2400" dirty="0">
                <a:latin typeface="Times New Roman" panose="02020603050405020304" pitchFamily="18" charset="0"/>
                <a:cs typeface="Times New Roman" panose="02020603050405020304" pitchFamily="18" charset="0"/>
              </a:rPr>
              <a:t>     • Tech Support </a:t>
            </a:r>
          </a:p>
          <a:p>
            <a:pPr lvl="0" eaLnBrk="0" fontAlgn="base" hangingPunct="0">
              <a:spcBef>
                <a:spcPct val="0"/>
              </a:spcBef>
              <a:spcAft>
                <a:spcPct val="0"/>
              </a:spcAft>
            </a:pPr>
            <a:r>
              <a:rPr lang="en-IN" sz="2400" dirty="0">
                <a:latin typeface="Times New Roman" panose="02020603050405020304" pitchFamily="18" charset="0"/>
                <a:cs typeface="Times New Roman" panose="02020603050405020304" pitchFamily="18" charset="0"/>
              </a:rPr>
              <a:t>     • Streaming TV </a:t>
            </a:r>
          </a:p>
          <a:p>
            <a:pPr lvl="0" eaLnBrk="0" fontAlgn="base" hangingPunct="0">
              <a:spcBef>
                <a:spcPct val="0"/>
              </a:spcBef>
              <a:spcAft>
                <a:spcPct val="0"/>
              </a:spcAft>
            </a:pPr>
            <a:r>
              <a:rPr lang="en-IN" sz="2400" dirty="0">
                <a:latin typeface="Times New Roman" panose="02020603050405020304" pitchFamily="18" charset="0"/>
                <a:cs typeface="Times New Roman" panose="02020603050405020304" pitchFamily="18" charset="0"/>
              </a:rPr>
              <a:t>     • Streaming Movies</a:t>
            </a: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Corrected data types for numeric and categorical columns.</a:t>
            </a:r>
            <a:endParaRPr lang="en-IN"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51E13-BDCA-5713-FD4E-114A77460C2F}"/>
            </a:ext>
          </a:extLst>
        </p:cNvPr>
        <p:cNvGrpSpPr/>
        <p:nvPr/>
      </p:nvGrpSpPr>
      <p:grpSpPr>
        <a:xfrm>
          <a:off x="0" y="0"/>
          <a:ext cx="0" cy="0"/>
          <a:chOff x="0" y="0"/>
          <a:chExt cx="0" cy="0"/>
        </a:xfrm>
      </p:grpSpPr>
      <p:pic>
        <p:nvPicPr>
          <p:cNvPr id="4" name="object 4" descr="Innomatics Research labs - Crunchbase Company Profile &amp; Funding">
            <a:extLst>
              <a:ext uri="{FF2B5EF4-FFF2-40B4-BE49-F238E27FC236}">
                <a16:creationId xmlns:a16="http://schemas.microsoft.com/office/drawing/2014/main" id="{EB2C1A87-5559-6ACD-98D8-2502DB447B15}"/>
              </a:ext>
            </a:extLst>
          </p:cNvPr>
          <p:cNvPicPr/>
          <p:nvPr/>
        </p:nvPicPr>
        <p:blipFill>
          <a:blip r:embed="rId2" cstate="print"/>
          <a:stretch>
            <a:fillRect/>
          </a:stretch>
        </p:blipFill>
        <p:spPr>
          <a:xfrm>
            <a:off x="9648825" y="6267450"/>
            <a:ext cx="2333625" cy="428625"/>
          </a:xfrm>
          <a:prstGeom prst="rect">
            <a:avLst/>
          </a:prstGeom>
        </p:spPr>
      </p:pic>
      <p:sp>
        <p:nvSpPr>
          <p:cNvPr id="6" name="Rectangle 2">
            <a:extLst>
              <a:ext uri="{FF2B5EF4-FFF2-40B4-BE49-F238E27FC236}">
                <a16:creationId xmlns:a16="http://schemas.microsoft.com/office/drawing/2014/main" id="{C3F8BCA1-8FFC-1419-C79A-E2D4387A348F}"/>
              </a:ext>
            </a:extLst>
          </p:cNvPr>
          <p:cNvSpPr>
            <a:spLocks noChangeArrowheads="1"/>
          </p:cNvSpPr>
          <p:nvPr/>
        </p:nvSpPr>
        <p:spPr bwMode="auto">
          <a:xfrm>
            <a:off x="678426" y="697011"/>
            <a:ext cx="1070732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Validated the dataset to ensure Customer ID uniqueness and absence of duplicates.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Created Tenure Group to group customers into meaningful segments: </a:t>
            </a:r>
          </a:p>
          <a:p>
            <a:r>
              <a:rPr lang="en-IN" sz="2400" dirty="0">
                <a:latin typeface="Times New Roman" panose="02020603050405020304" pitchFamily="18" charset="0"/>
                <a:cs typeface="Times New Roman" panose="02020603050405020304" pitchFamily="18" charset="0"/>
              </a:rPr>
              <a:t>    • 0–12 months </a:t>
            </a:r>
          </a:p>
          <a:p>
            <a:r>
              <a:rPr lang="en-IN" sz="2400" dirty="0">
                <a:latin typeface="Times New Roman" panose="02020603050405020304" pitchFamily="18" charset="0"/>
                <a:cs typeface="Times New Roman" panose="02020603050405020304" pitchFamily="18" charset="0"/>
              </a:rPr>
              <a:t>    • 12–24 months </a:t>
            </a:r>
          </a:p>
          <a:p>
            <a:r>
              <a:rPr lang="en-IN" sz="2400" dirty="0">
                <a:latin typeface="Times New Roman" panose="02020603050405020304" pitchFamily="18" charset="0"/>
                <a:cs typeface="Times New Roman" panose="02020603050405020304" pitchFamily="18" charset="0"/>
              </a:rPr>
              <a:t>    • 24–48 months </a:t>
            </a:r>
          </a:p>
          <a:p>
            <a:r>
              <a:rPr lang="en-IN" sz="2400" dirty="0">
                <a:latin typeface="Times New Roman" panose="02020603050405020304" pitchFamily="18" charset="0"/>
                <a:cs typeface="Times New Roman" panose="02020603050405020304" pitchFamily="18" charset="0"/>
              </a:rPr>
              <a:t>    • 48–72 months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These groups help identify which customer segments have the highest churn rates.</a:t>
            </a:r>
          </a:p>
        </p:txBody>
      </p:sp>
    </p:spTree>
    <p:extLst>
      <p:ext uri="{BB962C8B-B14F-4D97-AF65-F5344CB8AC3E}">
        <p14:creationId xmlns:p14="http://schemas.microsoft.com/office/powerpoint/2010/main" val="1196100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41BFB-1F93-30C7-F493-9448FB7AF4E0}"/>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F6165D1D-40C9-5AB0-C8AD-DD4578E58C2C}"/>
              </a:ext>
            </a:extLst>
          </p:cNvPr>
          <p:cNvSpPr txBox="1">
            <a:spLocks noGrp="1"/>
          </p:cNvSpPr>
          <p:nvPr>
            <p:ph type="title"/>
          </p:nvPr>
        </p:nvSpPr>
        <p:spPr>
          <a:xfrm>
            <a:off x="609600" y="233807"/>
            <a:ext cx="10894142" cy="570669"/>
          </a:xfrm>
          <a:prstGeom prst="rect">
            <a:avLst/>
          </a:prstGeom>
        </p:spPr>
        <p:txBody>
          <a:bodyPr vert="horz" wrap="square" lIns="0" tIns="16510" rIns="0" bIns="0" rtlCol="0">
            <a:spAutoFit/>
          </a:bodyPr>
          <a:lstStyle/>
          <a:p>
            <a:pPr marL="12700" algn="ctr">
              <a:lnSpc>
                <a:spcPct val="100000"/>
              </a:lnSpc>
              <a:spcBef>
                <a:spcPts val="130"/>
              </a:spcBef>
            </a:pPr>
            <a:r>
              <a:rPr lang="en-IN" sz="3600" b="1" u="sng" dirty="0">
                <a:latin typeface="Times New Roman" panose="02020603050405020304" pitchFamily="18" charset="0"/>
                <a:cs typeface="Times New Roman" panose="02020603050405020304" pitchFamily="18" charset="0"/>
              </a:rPr>
              <a:t>DASHBOARD OVERVIEW</a:t>
            </a:r>
            <a:endParaRPr lang="en-IN" sz="3600" b="1" u="sng" spc="-10" dirty="0">
              <a:latin typeface="Times New Roman" panose="02020603050405020304" pitchFamily="18" charset="0"/>
              <a:cs typeface="Times New Roman" panose="02020603050405020304" pitchFamily="18" charset="0"/>
            </a:endParaRPr>
          </a:p>
        </p:txBody>
      </p:sp>
      <p:pic>
        <p:nvPicPr>
          <p:cNvPr id="4" name="object 4" descr="Innomatics Research labs - Crunchbase Company Profile &amp; Funding">
            <a:extLst>
              <a:ext uri="{FF2B5EF4-FFF2-40B4-BE49-F238E27FC236}">
                <a16:creationId xmlns:a16="http://schemas.microsoft.com/office/drawing/2014/main" id="{75838DBA-48AE-8793-CA8A-9C7AF9D42543}"/>
              </a:ext>
            </a:extLst>
          </p:cNvPr>
          <p:cNvPicPr/>
          <p:nvPr/>
        </p:nvPicPr>
        <p:blipFill>
          <a:blip r:embed="rId2" cstate="print"/>
          <a:stretch>
            <a:fillRect/>
          </a:stretch>
        </p:blipFill>
        <p:spPr>
          <a:xfrm>
            <a:off x="9648825" y="6267450"/>
            <a:ext cx="2333625" cy="428625"/>
          </a:xfrm>
          <a:prstGeom prst="rect">
            <a:avLst/>
          </a:prstGeom>
        </p:spPr>
      </p:pic>
      <p:sp>
        <p:nvSpPr>
          <p:cNvPr id="6" name="Rectangle 2">
            <a:extLst>
              <a:ext uri="{FF2B5EF4-FFF2-40B4-BE49-F238E27FC236}">
                <a16:creationId xmlns:a16="http://schemas.microsoft.com/office/drawing/2014/main" id="{E9DFD0EF-DE55-E2DA-771C-3E641A47619E}"/>
              </a:ext>
            </a:extLst>
          </p:cNvPr>
          <p:cNvSpPr>
            <a:spLocks noChangeArrowheads="1"/>
          </p:cNvSpPr>
          <p:nvPr/>
        </p:nvSpPr>
        <p:spPr bwMode="auto">
          <a:xfrm>
            <a:off x="685800" y="1116868"/>
            <a:ext cx="1089414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Power BI report consists of four main dashboards:</a:t>
            </a:r>
            <a:endParaRPr lang="en-US" altLang="en-US" sz="2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 Demographics Analysis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 Subscription Analysis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Contract &amp; Billing Insights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Churn Prediction &amp; Key Drivers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dashboard includes interactive slicers for contract type, gender, senior citizen status, and internet service.</a:t>
            </a:r>
          </a:p>
        </p:txBody>
      </p:sp>
    </p:spTree>
    <p:extLst>
      <p:ext uri="{BB962C8B-B14F-4D97-AF65-F5344CB8AC3E}">
        <p14:creationId xmlns:p14="http://schemas.microsoft.com/office/powerpoint/2010/main" val="3167986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A2D4AF-2C1E-6265-A959-4761DE2D20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36" y="0"/>
            <a:ext cx="12268336"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60438" y="4775"/>
            <a:ext cx="11164529" cy="570669"/>
          </a:xfrm>
          <a:prstGeom prst="rect">
            <a:avLst/>
          </a:prstGeom>
        </p:spPr>
        <p:txBody>
          <a:bodyPr vert="horz" wrap="square" lIns="0" tIns="16510" rIns="0" bIns="0" rtlCol="0">
            <a:spAutoFit/>
          </a:bodyPr>
          <a:lstStyle/>
          <a:p>
            <a:pPr marL="12700" algn="ctr">
              <a:lnSpc>
                <a:spcPct val="100000"/>
              </a:lnSpc>
              <a:spcBef>
                <a:spcPts val="130"/>
              </a:spcBef>
            </a:pPr>
            <a:r>
              <a:rPr lang="en-IN" sz="3600" b="1" u="sng" dirty="0">
                <a:latin typeface="Times New Roman" panose="02020603050405020304" pitchFamily="18" charset="0"/>
                <a:cs typeface="Times New Roman" panose="02020603050405020304" pitchFamily="18" charset="0"/>
              </a:rPr>
              <a:t>CUSTOMER DEMOGRAPHICS ANALYSIS</a:t>
            </a:r>
            <a:endParaRPr lang="en-IN" sz="3600" b="1" u="sng" spc="-1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body" idx="1"/>
          </p:nvPr>
        </p:nvSpPr>
        <p:spPr>
          <a:xfrm>
            <a:off x="560437" y="840658"/>
            <a:ext cx="11164529" cy="6271717"/>
          </a:xfrm>
          <a:prstGeom prst="rect">
            <a:avLst/>
          </a:prstGeom>
        </p:spPr>
        <p:txBody>
          <a:bodyPr vert="horz" wrap="square" lIns="0" tIns="13335" rIns="0" bIns="0" rtlCol="0">
            <a:spAutoFit/>
          </a:bodyPr>
          <a:lstStyle/>
          <a:p>
            <a:pPr>
              <a:buFont typeface="Wingdings" panose="05000000000000000000" pitchFamily="2" charset="2"/>
              <a:buChar char="Ø"/>
            </a:pPr>
            <a:r>
              <a:rPr lang="en-IN" sz="1800" b="1" u="sng" dirty="0">
                <a:latin typeface="Times New Roman" panose="02020603050405020304" pitchFamily="18" charset="0"/>
                <a:cs typeface="Times New Roman" panose="02020603050405020304" pitchFamily="18" charset="0"/>
              </a:rPr>
              <a:t>KPI Cards:                                                                                                    </a:t>
            </a:r>
          </a:p>
          <a:p>
            <a:r>
              <a:rPr lang="en-IN" sz="1800" dirty="0">
                <a:latin typeface="Times New Roman" panose="02020603050405020304" pitchFamily="18" charset="0"/>
                <a:cs typeface="Times New Roman" panose="02020603050405020304" pitchFamily="18" charset="0"/>
              </a:rPr>
              <a:t>Total Customers → 7032</a:t>
            </a:r>
          </a:p>
          <a:p>
            <a:r>
              <a:rPr lang="en-IN" sz="1800" dirty="0">
                <a:latin typeface="Times New Roman" panose="02020603050405020304" pitchFamily="18" charset="0"/>
                <a:cs typeface="Times New Roman" panose="02020603050405020304" pitchFamily="18" charset="0"/>
              </a:rPr>
              <a:t>Churn Customers → 1869</a:t>
            </a:r>
          </a:p>
          <a:p>
            <a:r>
              <a:rPr lang="en-IN" sz="1800" dirty="0">
                <a:latin typeface="Times New Roman" panose="02020603050405020304" pitchFamily="18" charset="0"/>
                <a:cs typeface="Times New Roman" panose="02020603050405020304" pitchFamily="18" charset="0"/>
              </a:rPr>
              <a:t>Churn Rate → 27%</a:t>
            </a:r>
          </a:p>
          <a:p>
            <a:r>
              <a:rPr lang="en-IN" sz="1800" dirty="0">
                <a:latin typeface="Times New Roman" panose="02020603050405020304" pitchFamily="18" charset="0"/>
                <a:cs typeface="Times New Roman" panose="02020603050405020304" pitchFamily="18" charset="0"/>
              </a:rPr>
              <a:t>Average Monthly Charge → 64.80</a:t>
            </a:r>
          </a:p>
          <a:p>
            <a:r>
              <a:rPr lang="en-IN" sz="1800" dirty="0">
                <a:latin typeface="Times New Roman" panose="02020603050405020304" pitchFamily="18" charset="0"/>
                <a:cs typeface="Times New Roman" panose="02020603050405020304" pitchFamily="18" charset="0"/>
              </a:rPr>
              <a:t>Average Tenure → 32.42</a:t>
            </a:r>
          </a:p>
          <a:p>
            <a:pPr>
              <a:buFont typeface="Wingdings" panose="05000000000000000000" pitchFamily="2" charset="2"/>
              <a:buChar char="Ø"/>
            </a:pPr>
            <a:r>
              <a:rPr lang="en-IN" sz="1800" b="1" u="sng" dirty="0">
                <a:latin typeface="Times New Roman" panose="02020603050405020304" pitchFamily="18" charset="0"/>
                <a:cs typeface="Times New Roman" panose="02020603050405020304" pitchFamily="18" charset="0"/>
              </a:rPr>
              <a:t>Charts &amp; Visuals:</a:t>
            </a:r>
          </a:p>
          <a:p>
            <a:r>
              <a:rPr lang="en-IN" sz="1800" dirty="0">
                <a:latin typeface="Times New Roman" panose="02020603050405020304" pitchFamily="18" charset="0"/>
                <a:cs typeface="Times New Roman" panose="02020603050405020304" pitchFamily="18" charset="0"/>
              </a:rPr>
              <a:t>Donut Chart → Total Customers by Gender</a:t>
            </a:r>
          </a:p>
          <a:p>
            <a:r>
              <a:rPr lang="en-IN" sz="1800" dirty="0">
                <a:latin typeface="Times New Roman" panose="02020603050405020304" pitchFamily="18" charset="0"/>
                <a:cs typeface="Times New Roman" panose="02020603050405020304" pitchFamily="18" charset="0"/>
              </a:rPr>
              <a:t>Clustered Column Chart → Average Tenure &amp; Average Monthly Charge by Gender</a:t>
            </a:r>
          </a:p>
          <a:p>
            <a:r>
              <a:rPr lang="en-IN" sz="1800" dirty="0">
                <a:latin typeface="Times New Roman" panose="02020603050405020304" pitchFamily="18" charset="0"/>
                <a:cs typeface="Times New Roman" panose="02020603050405020304" pitchFamily="18" charset="0"/>
              </a:rPr>
              <a:t>Bar Chart → Churn Rate by Tenure Group</a:t>
            </a:r>
          </a:p>
          <a:p>
            <a:r>
              <a:rPr lang="en-IN" sz="1800" dirty="0">
                <a:latin typeface="Times New Roman" panose="02020603050405020304" pitchFamily="18" charset="0"/>
                <a:cs typeface="Times New Roman" panose="02020603050405020304" pitchFamily="18" charset="0"/>
              </a:rPr>
              <a:t>Line Chart → Average Monthly Charge by Tenure Group</a:t>
            </a:r>
          </a:p>
          <a:p>
            <a:r>
              <a:rPr lang="en-IN" sz="1800" dirty="0">
                <a:latin typeface="Times New Roman" panose="02020603050405020304" pitchFamily="18" charset="0"/>
                <a:cs typeface="Times New Roman" panose="02020603050405020304" pitchFamily="18" charset="0"/>
              </a:rPr>
              <a:t>Stacked Column Chart → Total Customers by Senior Citizen and Churn</a:t>
            </a:r>
          </a:p>
          <a:p>
            <a:r>
              <a:rPr lang="en-IN" sz="1800" dirty="0">
                <a:latin typeface="Times New Roman" panose="02020603050405020304" pitchFamily="18" charset="0"/>
                <a:cs typeface="Times New Roman" panose="02020603050405020304" pitchFamily="18" charset="0"/>
              </a:rPr>
              <a:t>Column Chart → Total Customers by Tenure Group</a:t>
            </a:r>
          </a:p>
          <a:p>
            <a:pPr>
              <a:buFont typeface="Wingdings" panose="05000000000000000000" pitchFamily="2" charset="2"/>
              <a:buChar char="Ø"/>
            </a:pPr>
            <a:r>
              <a:rPr lang="en-IN" sz="1800" b="1" u="sng" dirty="0">
                <a:latin typeface="Times New Roman" panose="02020603050405020304" pitchFamily="18" charset="0"/>
                <a:cs typeface="Times New Roman" panose="02020603050405020304" pitchFamily="18" charset="0"/>
              </a:rPr>
              <a:t>Slicers:</a:t>
            </a:r>
          </a:p>
          <a:p>
            <a:r>
              <a:rPr lang="en-IN" sz="1800" dirty="0">
                <a:latin typeface="Times New Roman" panose="02020603050405020304" pitchFamily="18" charset="0"/>
                <a:cs typeface="Times New Roman" panose="02020603050405020304" pitchFamily="18" charset="0"/>
              </a:rPr>
              <a:t>Contract</a:t>
            </a:r>
          </a:p>
          <a:p>
            <a:r>
              <a:rPr lang="en-IN" sz="1800" dirty="0">
                <a:latin typeface="Times New Roman" panose="02020603050405020304" pitchFamily="18" charset="0"/>
                <a:cs typeface="Times New Roman" panose="02020603050405020304" pitchFamily="18" charset="0"/>
              </a:rPr>
              <a:t>Gender</a:t>
            </a:r>
          </a:p>
          <a:p>
            <a:pPr marL="234315" indent="-285750">
              <a:lnSpc>
                <a:spcPts val="2870"/>
              </a:lnSpc>
              <a:spcBef>
                <a:spcPts val="105"/>
              </a:spcBef>
              <a:tabLst>
                <a:tab pos="462280" algn="l"/>
                <a:tab pos="4957445" algn="l"/>
              </a:tabLst>
            </a:pPr>
            <a:endParaRPr sz="1800" spc="-10" dirty="0">
              <a:latin typeface="Times New Roman" panose="02020603050405020304" pitchFamily="18" charset="0"/>
              <a:cs typeface="Times New Roman" panose="02020603050405020304" pitchFamily="18" charset="0"/>
            </a:endParaRPr>
          </a:p>
        </p:txBody>
      </p:sp>
      <p:pic>
        <p:nvPicPr>
          <p:cNvPr id="4" name="object 4" descr="Innomatics Research labs - Crunchbase Company Profile &amp; Funding"/>
          <p:cNvPicPr/>
          <p:nvPr/>
        </p:nvPicPr>
        <p:blipFill>
          <a:blip r:embed="rId2" cstate="print"/>
          <a:stretch>
            <a:fillRect/>
          </a:stretch>
        </p:blipFill>
        <p:spPr>
          <a:xfrm>
            <a:off x="9648825" y="6267450"/>
            <a:ext cx="2333625" cy="4286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A5F456-CBF9-20BF-EE67-987B9148B1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838"/>
            <a:ext cx="12192000" cy="68858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74516" y="83924"/>
            <a:ext cx="10840736" cy="570669"/>
          </a:xfrm>
          <a:prstGeom prst="rect">
            <a:avLst/>
          </a:prstGeom>
        </p:spPr>
        <p:txBody>
          <a:bodyPr vert="horz" wrap="square" lIns="0" tIns="16510" rIns="0" bIns="0" rtlCol="0">
            <a:spAutoFit/>
          </a:bodyPr>
          <a:lstStyle/>
          <a:p>
            <a:pPr marL="113030" algn="ctr">
              <a:lnSpc>
                <a:spcPct val="100000"/>
              </a:lnSpc>
              <a:spcBef>
                <a:spcPts val="130"/>
              </a:spcBef>
            </a:pPr>
            <a:r>
              <a:rPr lang="en-IN" sz="3600" b="1" u="sng" dirty="0">
                <a:latin typeface="Times New Roman" panose="02020603050405020304" pitchFamily="18" charset="0"/>
                <a:cs typeface="Times New Roman" panose="02020603050405020304" pitchFamily="18" charset="0"/>
              </a:rPr>
              <a:t>SERVICE SUBSCRIPTION ANALYSIS</a:t>
            </a:r>
            <a:endParaRPr lang="en-IN" sz="3600" b="1" u="sng" spc="-1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74516" y="958645"/>
            <a:ext cx="10840736" cy="4793690"/>
          </a:xfrm>
          <a:prstGeom prst="rect">
            <a:avLst/>
          </a:prstGeom>
        </p:spPr>
        <p:txBody>
          <a:bodyPr vert="horz" wrap="square" lIns="0" tIns="13335" rIns="0" bIns="0" rtlCol="0">
            <a:spAutoFit/>
          </a:bodyPr>
          <a:lstStyle/>
          <a:p>
            <a:pPr marL="285750" indent="-285750">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KPI Cards: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Total Customers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Churn Rate</a:t>
            </a:r>
          </a:p>
          <a:p>
            <a:pPr marL="285750" indent="-285750">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Charts &amp; Visuals: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Table Visual → Internet Service vs Add-on Services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(Online Security, Backup, Device Protection, Tech Support)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Bar Chart → Churn Rate by Internet Service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Line Chart → Churn Rate by Number of Services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Donut Chart → Total Customers by Phone Service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Stacked Bar Chart → Churn Rate by Internet Service &amp; Streaming TV</a:t>
            </a:r>
          </a:p>
          <a:p>
            <a:pPr marL="285750" indent="-285750">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Slicers: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Contract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Gender</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Senior Citizen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Internet Service</a:t>
            </a: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86523B-FA33-F312-DA03-808AFC21FE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628"/>
            <a:ext cx="12192000" cy="68876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91832" y="335695"/>
            <a:ext cx="10808335" cy="570669"/>
          </a:xfrm>
          <a:prstGeom prst="rect">
            <a:avLst/>
          </a:prstGeom>
        </p:spPr>
        <p:txBody>
          <a:bodyPr vert="horz" wrap="square" lIns="0" tIns="16510" rIns="0" bIns="0" rtlCol="0">
            <a:spAutoFit/>
          </a:bodyPr>
          <a:lstStyle/>
          <a:p>
            <a:pPr marL="131445" algn="ctr">
              <a:lnSpc>
                <a:spcPct val="100000"/>
              </a:lnSpc>
              <a:spcBef>
                <a:spcPts val="130"/>
              </a:spcBef>
            </a:pPr>
            <a:r>
              <a:rPr lang="en-IN" sz="3600" b="1" u="sng" dirty="0">
                <a:latin typeface="Times New Roman" panose="02020603050405020304" pitchFamily="18" charset="0"/>
                <a:cs typeface="Times New Roman" panose="02020603050405020304" pitchFamily="18" charset="0"/>
              </a:rPr>
              <a:t>CONTRACT &amp; BILLING INSIGHTS</a:t>
            </a:r>
            <a:endParaRPr lang="en-IN" sz="3600" b="1" u="sng" spc="-1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91832" y="1143000"/>
            <a:ext cx="10808335" cy="4321696"/>
          </a:xfrm>
          <a:prstGeom prst="rect">
            <a:avLst/>
          </a:prstGeom>
        </p:spPr>
        <p:txBody>
          <a:bodyPr vert="horz" wrap="square" lIns="0" tIns="12700" rIns="0" bIns="0" rtlCol="0">
            <a:spAutoFit/>
          </a:bodyPr>
          <a:lstStyle/>
          <a:p>
            <a:pPr marL="342900" indent="-342900">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KPI Cards: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Avg Monthly Charge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Churn Customers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Churn Rate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Average Monthly Charge (billing focus)</a:t>
            </a:r>
          </a:p>
          <a:p>
            <a:pPr marL="342900" indent="-342900">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Charts &amp; Visuals: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Bar Chart → Churn Rate by Contract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Clustered Column Chart → Total Customers by Tenure Group &amp; Contract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Bar Chart → Churn Rate by Payment Method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Stacked Column Chart → Average Total Charges by Paperless Billing &amp; Churn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Bar Chart → Average Tenure by Contract</a:t>
            </a:r>
          </a:p>
          <a:p>
            <a:pPr marL="342900" indent="-342900">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Slicers: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Payment Method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Contract</a:t>
            </a: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998990-3878-13FE-02FD-017A613AD9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844"/>
            <a:ext cx="12191999" cy="68838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0943" y="282938"/>
            <a:ext cx="11076038" cy="570669"/>
          </a:xfrm>
          <a:prstGeom prst="rect">
            <a:avLst/>
          </a:prstGeom>
        </p:spPr>
        <p:txBody>
          <a:bodyPr vert="horz" wrap="square" lIns="0" tIns="16510" rIns="0" bIns="0" rtlCol="0">
            <a:spAutoFit/>
          </a:bodyPr>
          <a:lstStyle/>
          <a:p>
            <a:pPr marL="12700" algn="ctr">
              <a:lnSpc>
                <a:spcPct val="100000"/>
              </a:lnSpc>
              <a:spcBef>
                <a:spcPts val="130"/>
              </a:spcBef>
            </a:pPr>
            <a:r>
              <a:rPr lang="en-IN" sz="3600" b="1" u="sng" dirty="0">
                <a:latin typeface="Times New Roman" panose="02020603050405020304" pitchFamily="18" charset="0"/>
                <a:cs typeface="Times New Roman" panose="02020603050405020304" pitchFamily="18" charset="0"/>
              </a:rPr>
              <a:t>CHURN PREDICTION &amp; KEY DRIVERS</a:t>
            </a:r>
            <a:endParaRPr lang="en-IN" sz="3600" b="1" u="sng" spc="-10" dirty="0">
              <a:latin typeface="Times New Roman" panose="02020603050405020304" pitchFamily="18" charset="0"/>
              <a:cs typeface="Times New Roman" panose="02020603050405020304" pitchFamily="18" charset="0"/>
            </a:endParaRPr>
          </a:p>
        </p:txBody>
      </p:sp>
      <p:sp>
        <p:nvSpPr>
          <p:cNvPr id="3" name="object 3"/>
          <p:cNvSpPr txBox="1"/>
          <p:nvPr/>
        </p:nvSpPr>
        <p:spPr>
          <a:xfrm>
            <a:off x="914399" y="1238865"/>
            <a:ext cx="10692582" cy="2783454"/>
          </a:xfrm>
          <a:prstGeom prst="rect">
            <a:avLst/>
          </a:prstGeom>
        </p:spPr>
        <p:txBody>
          <a:bodyPr vert="horz" wrap="square" lIns="0" tIns="13335" rIns="0" bIns="0" rtlCol="0">
            <a:spAutoFit/>
          </a:bodyPr>
          <a:lstStyle/>
          <a:p>
            <a:pPr marL="342900" indent="-342900">
              <a:buFont typeface="Wingdings" panose="05000000000000000000" pitchFamily="2" charset="2"/>
              <a:buChar char="Ø"/>
            </a:pPr>
            <a:r>
              <a:rPr lang="en-US" sz="2000" b="1" u="sng" dirty="0">
                <a:latin typeface="Times New Roman" panose="02020603050405020304" pitchFamily="18" charset="0"/>
                <a:cs typeface="Times New Roman" panose="02020603050405020304" pitchFamily="18" charset="0"/>
              </a:rPr>
              <a:t>Charts &amp; Visuals: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Column Chart → Total Customers by Risk Score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Gauge Chart → Churn Rate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Donut Chart → Average Total Charges by Churn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Decomposition Tree → Churn by</a:t>
            </a:r>
          </a:p>
          <a:p>
            <a:pPr marL="342900" lvl="1"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Contract</a:t>
            </a:r>
          </a:p>
          <a:p>
            <a:pPr marL="342900" lvl="1"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Internet Service</a:t>
            </a:r>
          </a:p>
          <a:p>
            <a:pPr marL="342900" lvl="1"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Tech Support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Key Influencers Visual → What influences Churn = Yes</a:t>
            </a:r>
          </a:p>
        </p:txBody>
      </p:sp>
      <p:pic>
        <p:nvPicPr>
          <p:cNvPr id="4" name="object 4" descr="Innomatics Research labs - Crunchbase Company Profile &amp; Funding"/>
          <p:cNvPicPr/>
          <p:nvPr/>
        </p:nvPicPr>
        <p:blipFill>
          <a:blip r:embed="rId2" cstate="print"/>
          <a:stretch>
            <a:fillRect/>
          </a:stretch>
        </p:blipFill>
        <p:spPr>
          <a:xfrm>
            <a:off x="9648825" y="6267450"/>
            <a:ext cx="2333625" cy="4286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45690" y="285527"/>
            <a:ext cx="10913807" cy="570669"/>
          </a:xfrm>
          <a:prstGeom prst="rect">
            <a:avLst/>
          </a:prstGeom>
        </p:spPr>
        <p:txBody>
          <a:bodyPr vert="horz" wrap="square" lIns="0" tIns="16510" rIns="0" bIns="0" rtlCol="0">
            <a:spAutoFit/>
          </a:bodyPr>
          <a:lstStyle/>
          <a:p>
            <a:pPr marL="12700" algn="ctr">
              <a:lnSpc>
                <a:spcPct val="100000"/>
              </a:lnSpc>
              <a:spcBef>
                <a:spcPts val="130"/>
              </a:spcBef>
            </a:pPr>
            <a:r>
              <a:rPr lang="en-IN" sz="3600" b="1" u="sng" dirty="0">
                <a:latin typeface="Times New Roman" panose="02020603050405020304" pitchFamily="18" charset="0"/>
                <a:cs typeface="Times New Roman" panose="02020603050405020304" pitchFamily="18" charset="0"/>
              </a:rPr>
              <a:t>KEY INSIGHTS &amp; FINDINGS </a:t>
            </a:r>
            <a:endParaRPr lang="en-IN" sz="3600" b="1" u="sng" spc="-10" dirty="0">
              <a:latin typeface="Times New Roman" panose="02020603050405020304" pitchFamily="18" charset="0"/>
              <a:cs typeface="Times New Roman" panose="02020603050405020304" pitchFamily="18" charset="0"/>
            </a:endParaRP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
        <p:nvSpPr>
          <p:cNvPr id="3" name="Rectangle 1">
            <a:extLst>
              <a:ext uri="{FF2B5EF4-FFF2-40B4-BE49-F238E27FC236}">
                <a16:creationId xmlns:a16="http://schemas.microsoft.com/office/drawing/2014/main" id="{6D9DCC66-0211-EACE-23C4-7D774B56FF5F}"/>
              </a:ext>
            </a:extLst>
          </p:cNvPr>
          <p:cNvSpPr>
            <a:spLocks noChangeArrowheads="1"/>
          </p:cNvSpPr>
          <p:nvPr/>
        </p:nvSpPr>
        <p:spPr bwMode="auto">
          <a:xfrm>
            <a:off x="545690" y="1064736"/>
            <a:ext cx="1091380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Customers on month-to-month plans are more likely to leave compared to those on yearly contracts.</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People paying higher monthly fees tend to cancel services more often.</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Users with </a:t>
            </a:r>
            <a:r>
              <a:rPr lang="en-IN" sz="2400" dirty="0" err="1">
                <a:latin typeface="Times New Roman" panose="02020603050405020304" pitchFamily="18" charset="0"/>
                <a:cs typeface="Times New Roman" panose="02020603050405020304" pitchFamily="18" charset="0"/>
              </a:rPr>
              <a:t>fiber</a:t>
            </a:r>
            <a:r>
              <a:rPr lang="en-IN" sz="2400" dirty="0">
                <a:latin typeface="Times New Roman" panose="02020603050405020304" pitchFamily="18" charset="0"/>
                <a:cs typeface="Times New Roman" panose="02020603050405020304" pitchFamily="18" charset="0"/>
              </a:rPr>
              <a:t> optic internet have a higher chance of leaving than those using DSL.</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Customers who don’t have services like Online Security, Tech Support, or Device Protection are more likely to churn.</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New customers (0–12 months) leave more frequently, indicating early dissatisfaction.</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Senior citizens have a higher tendency to churn than younger customers.</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Customers who pay using Electronic Check show the highest churn rate.</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Long-term customers (24+ months) and those with yearly plans are more loyal and less likely to leave.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ABA61-35DF-7682-859E-CCB239C5887A}"/>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8D66E500-3DF0-03EF-0422-78AE341D0C7A}"/>
              </a:ext>
            </a:extLst>
          </p:cNvPr>
          <p:cNvSpPr txBox="1">
            <a:spLocks noGrp="1"/>
          </p:cNvSpPr>
          <p:nvPr>
            <p:ph type="title"/>
          </p:nvPr>
        </p:nvSpPr>
        <p:spPr>
          <a:xfrm>
            <a:off x="685800" y="292902"/>
            <a:ext cx="10847439" cy="570669"/>
          </a:xfrm>
          <a:prstGeom prst="rect">
            <a:avLst/>
          </a:prstGeom>
        </p:spPr>
        <p:txBody>
          <a:bodyPr vert="horz" wrap="square" lIns="0" tIns="16510" rIns="0" bIns="0" rtlCol="0">
            <a:spAutoFit/>
          </a:bodyPr>
          <a:lstStyle/>
          <a:p>
            <a:pPr marL="12700" algn="ctr">
              <a:lnSpc>
                <a:spcPct val="100000"/>
              </a:lnSpc>
              <a:spcBef>
                <a:spcPts val="130"/>
              </a:spcBef>
            </a:pPr>
            <a:r>
              <a:rPr lang="en-IN" sz="3600" b="1" u="sng" dirty="0">
                <a:latin typeface="Times New Roman" panose="02020603050405020304" pitchFamily="18" charset="0"/>
                <a:cs typeface="Times New Roman" panose="02020603050405020304" pitchFamily="18" charset="0"/>
              </a:rPr>
              <a:t>APPLICATIONS</a:t>
            </a:r>
            <a:r>
              <a:rPr lang="en-IN" sz="3600" b="1" u="sng" spc="45" dirty="0">
                <a:latin typeface="Times New Roman" panose="02020603050405020304" pitchFamily="18" charset="0"/>
                <a:cs typeface="Times New Roman" panose="02020603050405020304" pitchFamily="18" charset="0"/>
              </a:rPr>
              <a:t> </a:t>
            </a:r>
            <a:r>
              <a:rPr lang="en-IN" sz="3600" b="1" u="sng" dirty="0">
                <a:latin typeface="Times New Roman" panose="02020603050405020304" pitchFamily="18" charset="0"/>
                <a:cs typeface="Times New Roman" panose="02020603050405020304" pitchFamily="18" charset="0"/>
              </a:rPr>
              <a:t>&amp;</a:t>
            </a:r>
            <a:r>
              <a:rPr lang="en-IN" sz="3600" b="1" u="sng" spc="110" dirty="0">
                <a:latin typeface="Times New Roman" panose="02020603050405020304" pitchFamily="18" charset="0"/>
                <a:cs typeface="Times New Roman" panose="02020603050405020304" pitchFamily="18" charset="0"/>
              </a:rPr>
              <a:t> </a:t>
            </a:r>
            <a:r>
              <a:rPr lang="en-IN" sz="3600" b="1" u="sng" spc="-10" dirty="0">
                <a:latin typeface="Times New Roman" panose="02020603050405020304" pitchFamily="18" charset="0"/>
                <a:cs typeface="Times New Roman" panose="02020603050405020304" pitchFamily="18" charset="0"/>
              </a:rPr>
              <a:t>RECOMMENDATIONS</a:t>
            </a:r>
          </a:p>
        </p:txBody>
      </p:sp>
      <p:pic>
        <p:nvPicPr>
          <p:cNvPr id="4" name="object 4" descr="Innomatics Research labs - Crunchbase Company Profile &amp; Funding">
            <a:extLst>
              <a:ext uri="{FF2B5EF4-FFF2-40B4-BE49-F238E27FC236}">
                <a16:creationId xmlns:a16="http://schemas.microsoft.com/office/drawing/2014/main" id="{647BCB76-DE43-CF7F-1067-037E8C2FDF10}"/>
              </a:ext>
            </a:extLst>
          </p:cNvPr>
          <p:cNvPicPr/>
          <p:nvPr/>
        </p:nvPicPr>
        <p:blipFill>
          <a:blip r:embed="rId2" cstate="print"/>
          <a:stretch>
            <a:fillRect/>
          </a:stretch>
        </p:blipFill>
        <p:spPr>
          <a:xfrm>
            <a:off x="9648825" y="6257925"/>
            <a:ext cx="2333625" cy="428625"/>
          </a:xfrm>
          <a:prstGeom prst="rect">
            <a:avLst/>
          </a:prstGeom>
        </p:spPr>
      </p:pic>
      <p:sp>
        <p:nvSpPr>
          <p:cNvPr id="3" name="Rectangle 1">
            <a:extLst>
              <a:ext uri="{FF2B5EF4-FFF2-40B4-BE49-F238E27FC236}">
                <a16:creationId xmlns:a16="http://schemas.microsoft.com/office/drawing/2014/main" id="{B3820BDC-A460-C8C7-BA4C-2F1802506B58}"/>
              </a:ext>
            </a:extLst>
          </p:cNvPr>
          <p:cNvSpPr>
            <a:spLocks noChangeArrowheads="1"/>
          </p:cNvSpPr>
          <p:nvPr/>
        </p:nvSpPr>
        <p:spPr bwMode="auto">
          <a:xfrm>
            <a:off x="685800" y="1000623"/>
            <a:ext cx="10847439"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Wingdings" panose="05000000000000000000" pitchFamily="2" charset="2"/>
              <a:buChar char="Ø"/>
            </a:pPr>
            <a:r>
              <a:rPr lang="en-IN" sz="2400" b="1" u="sng" dirty="0">
                <a:latin typeface="Times New Roman" panose="02020603050405020304" pitchFamily="18" charset="0"/>
                <a:cs typeface="Times New Roman" panose="02020603050405020304" pitchFamily="18" charset="0"/>
              </a:rPr>
              <a:t>Applications</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dashboard helps track churn patterns and understand customer behaviour clearly.</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enables managers to identify high-risk customers at an early stage.</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Teams can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which services (like Tech Support or Security) influence customer churn.</a:t>
            </a:r>
          </a:p>
          <a:p>
            <a:pPr marL="34290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Supports data-driven decision-making and helps monitor overall business performance.</a:t>
            </a:r>
          </a:p>
          <a:p>
            <a:pPr marL="342900" indent="-342900" eaLnBrk="0" fontAlgn="base" hangingPunct="0">
              <a:spcBef>
                <a:spcPct val="0"/>
              </a:spcBef>
              <a:spcAft>
                <a:spcPct val="0"/>
              </a:spcAft>
              <a:buFont typeface="Wingdings" panose="05000000000000000000" pitchFamily="2" charset="2"/>
              <a:buChar char="Ø"/>
            </a:pPr>
            <a:r>
              <a:rPr lang="en-IN" sz="2400" b="1" u="sng" dirty="0">
                <a:latin typeface="Times New Roman" panose="02020603050405020304" pitchFamily="18" charset="0"/>
                <a:cs typeface="Times New Roman" panose="02020603050405020304" pitchFamily="18" charset="0"/>
              </a:rPr>
              <a:t>Recommendations</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Encourage customers to choose long-term contracts (1–2 years) to reduce churn.</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Promote add-on services like Tech Support, Online Security, and Device Protection.</a:t>
            </a:r>
          </a:p>
          <a:p>
            <a:pPr marL="34290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better support and engagement for senior citizens and high-paying customers.</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Encourage customers to switch to automatic or stable payment methods instead of Electronic Check.</a:t>
            </a:r>
          </a:p>
          <a:p>
            <a:pPr lvl="0" eaLnBrk="0" fontAlgn="base" hangingPunct="0">
              <a:spcBef>
                <a:spcPct val="0"/>
              </a:spcBef>
              <a:spcAft>
                <a:spcPct val="0"/>
              </a:spcAft>
              <a:buFontTx/>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997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4BF73-88E6-575F-4F9C-5AEFCA7D2BD6}"/>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CA827382-9502-0F93-CB8B-3B18E2E58171}"/>
              </a:ext>
            </a:extLst>
          </p:cNvPr>
          <p:cNvSpPr txBox="1">
            <a:spLocks noGrp="1"/>
          </p:cNvSpPr>
          <p:nvPr>
            <p:ph type="title"/>
          </p:nvPr>
        </p:nvSpPr>
        <p:spPr>
          <a:xfrm>
            <a:off x="685799" y="324103"/>
            <a:ext cx="10714704" cy="570669"/>
          </a:xfrm>
          <a:prstGeom prst="rect">
            <a:avLst/>
          </a:prstGeom>
        </p:spPr>
        <p:txBody>
          <a:bodyPr vert="horz" wrap="square" lIns="0" tIns="16510" rIns="0" bIns="0" rtlCol="0">
            <a:spAutoFit/>
          </a:bodyPr>
          <a:lstStyle/>
          <a:p>
            <a:pPr marL="12700" algn="ctr">
              <a:lnSpc>
                <a:spcPct val="100000"/>
              </a:lnSpc>
              <a:spcBef>
                <a:spcPts val="130"/>
              </a:spcBef>
            </a:pPr>
            <a:r>
              <a:rPr lang="en-US" sz="3600" b="1" u="sng" dirty="0">
                <a:latin typeface="Times New Roman" panose="02020603050405020304" pitchFamily="18" charset="0"/>
                <a:cs typeface="Times New Roman" panose="02020603050405020304" pitchFamily="18" charset="0"/>
              </a:rPr>
              <a:t>Challenges Faced During the Project</a:t>
            </a:r>
            <a:endParaRPr sz="3600" b="1" u="sng" spc="-10" dirty="0">
              <a:latin typeface="Times New Roman" panose="02020603050405020304" pitchFamily="18" charset="0"/>
              <a:cs typeface="Times New Roman" panose="02020603050405020304" pitchFamily="18" charset="0"/>
            </a:endParaRPr>
          </a:p>
        </p:txBody>
      </p:sp>
      <p:pic>
        <p:nvPicPr>
          <p:cNvPr id="4" name="object 4" descr="Innomatics Research labs - Crunchbase Company Profile &amp; Funding">
            <a:extLst>
              <a:ext uri="{FF2B5EF4-FFF2-40B4-BE49-F238E27FC236}">
                <a16:creationId xmlns:a16="http://schemas.microsoft.com/office/drawing/2014/main" id="{9BA66D26-3C92-92E2-31EA-836CEE77F09B}"/>
              </a:ext>
            </a:extLst>
          </p:cNvPr>
          <p:cNvPicPr/>
          <p:nvPr/>
        </p:nvPicPr>
        <p:blipFill>
          <a:blip r:embed="rId2" cstate="print"/>
          <a:stretch>
            <a:fillRect/>
          </a:stretch>
        </p:blipFill>
        <p:spPr>
          <a:xfrm>
            <a:off x="9648825" y="6257925"/>
            <a:ext cx="2333625" cy="428625"/>
          </a:xfrm>
          <a:prstGeom prst="rect">
            <a:avLst/>
          </a:prstGeom>
        </p:spPr>
      </p:pic>
      <p:sp>
        <p:nvSpPr>
          <p:cNvPr id="5" name="Rectangle 1">
            <a:extLst>
              <a:ext uri="{FF2B5EF4-FFF2-40B4-BE49-F238E27FC236}">
                <a16:creationId xmlns:a16="http://schemas.microsoft.com/office/drawing/2014/main" id="{1D66A619-6FD9-BF67-4693-E06CB738B316}"/>
              </a:ext>
            </a:extLst>
          </p:cNvPr>
          <p:cNvSpPr>
            <a:spLocks noChangeArrowheads="1"/>
          </p:cNvSpPr>
          <p:nvPr/>
        </p:nvSpPr>
        <p:spPr bwMode="auto">
          <a:xfrm>
            <a:off x="685798" y="1159624"/>
            <a:ext cx="1071470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Data Quality Issues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dataset had missing and inconsistent values (especially in Total Charges and service-related fields), so proper cleaning and transformation were needed.</a:t>
            </a:r>
          </a:p>
          <a:p>
            <a:r>
              <a:rPr lang="en-IN" sz="2400"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Understanding Business Logic</a:t>
            </a:r>
            <a:br>
              <a:rPr lang="en-IN" sz="2400" dirty="0">
                <a:latin typeface="Times New Roman" panose="02020603050405020304" pitchFamily="18" charset="0"/>
                <a:cs typeface="Times New Roman" panose="02020603050405020304" pitchFamily="18" charset="0"/>
              </a:rPr>
            </a:b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churn from a business point of view (like tenure, contracts, and services) was not easy and required domain knowledge beyond technical skills.</a:t>
            </a:r>
          </a:p>
          <a:p>
            <a:r>
              <a:rPr lang="en-IN" sz="2400"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Choosing the Right Visuals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Selecting visuals that clearly showed insights without making the dashboard crowded took several revisions and testing.</a:t>
            </a:r>
          </a:p>
          <a:p>
            <a:r>
              <a:rPr lang="en-IN" sz="2400"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Finding Key Churn Factors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Since churn is influenced by multiple factors, it was difficult to identify the main drivers without using advanced visuals like Key Influencers and Decomposition Tree.</a:t>
            </a:r>
          </a:p>
        </p:txBody>
      </p:sp>
    </p:spTree>
    <p:extLst>
      <p:ext uri="{BB962C8B-B14F-4D97-AF65-F5344CB8AC3E}">
        <p14:creationId xmlns:p14="http://schemas.microsoft.com/office/powerpoint/2010/main" val="3305991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9601" y="265258"/>
            <a:ext cx="10938386" cy="570669"/>
          </a:xfrm>
          <a:prstGeom prst="rect">
            <a:avLst/>
          </a:prstGeom>
        </p:spPr>
        <p:txBody>
          <a:bodyPr vert="horz" wrap="square" lIns="0" tIns="16510" rIns="0" bIns="0" rtlCol="0">
            <a:spAutoFit/>
          </a:bodyPr>
          <a:lstStyle/>
          <a:p>
            <a:pPr marL="12700" algn="ctr">
              <a:lnSpc>
                <a:spcPct val="100000"/>
              </a:lnSpc>
              <a:spcBef>
                <a:spcPts val="130"/>
              </a:spcBef>
            </a:pPr>
            <a:r>
              <a:rPr lang="en-IN" sz="3600" b="1" u="sng" spc="-10" dirty="0">
                <a:latin typeface="Times New Roman" panose="02020603050405020304" pitchFamily="18" charset="0"/>
                <a:cs typeface="Times New Roman" panose="02020603050405020304" pitchFamily="18" charset="0"/>
              </a:rPr>
              <a:t>CONCLUSION</a:t>
            </a:r>
          </a:p>
        </p:txBody>
      </p:sp>
      <p:pic>
        <p:nvPicPr>
          <p:cNvPr id="4" name="object 4" descr="Innomatics Research labs - Crunchbase Company Profile &amp; Funding"/>
          <p:cNvPicPr/>
          <p:nvPr/>
        </p:nvPicPr>
        <p:blipFill>
          <a:blip r:embed="rId2" cstate="print"/>
          <a:stretch>
            <a:fillRect/>
          </a:stretch>
        </p:blipFill>
        <p:spPr>
          <a:xfrm>
            <a:off x="9648825" y="6257925"/>
            <a:ext cx="2333625" cy="428625"/>
          </a:xfrm>
          <a:prstGeom prst="rect">
            <a:avLst/>
          </a:prstGeom>
        </p:spPr>
      </p:pic>
      <p:sp>
        <p:nvSpPr>
          <p:cNvPr id="8" name="Rectangle 4">
            <a:extLst>
              <a:ext uri="{FF2B5EF4-FFF2-40B4-BE49-F238E27FC236}">
                <a16:creationId xmlns:a16="http://schemas.microsoft.com/office/drawing/2014/main" id="{FAF09E98-724D-3A42-4DC6-909DF370EAE2}"/>
              </a:ext>
            </a:extLst>
          </p:cNvPr>
          <p:cNvSpPr>
            <a:spLocks noChangeArrowheads="1"/>
          </p:cNvSpPr>
          <p:nvPr/>
        </p:nvSpPr>
        <p:spPr bwMode="auto">
          <a:xfrm>
            <a:off x="609601" y="1163295"/>
            <a:ext cx="1093838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overall churn rate is </a:t>
            </a:r>
            <a:r>
              <a:rPr lang="en-IN" sz="2400" b="1" dirty="0">
                <a:latin typeface="Times New Roman" panose="02020603050405020304" pitchFamily="18" charset="0"/>
                <a:cs typeface="Times New Roman" panose="02020603050405020304" pitchFamily="18" charset="0"/>
              </a:rPr>
              <a:t>27%, </a:t>
            </a:r>
            <a:r>
              <a:rPr lang="en-IN" sz="2400" dirty="0">
                <a:latin typeface="Times New Roman" panose="02020603050405020304" pitchFamily="18" charset="0"/>
                <a:cs typeface="Times New Roman" panose="02020603050405020304" pitchFamily="18" charset="0"/>
              </a:rPr>
              <a:t>with the highest churn among month-to-month customers.</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Major churn drivers include high monthly charges, </a:t>
            </a:r>
            <a:r>
              <a:rPr lang="en-IN" sz="2400" dirty="0" err="1">
                <a:latin typeface="Times New Roman" panose="02020603050405020304" pitchFamily="18" charset="0"/>
                <a:cs typeface="Times New Roman" panose="02020603050405020304" pitchFamily="18" charset="0"/>
              </a:rPr>
              <a:t>fiber</a:t>
            </a:r>
            <a:r>
              <a:rPr lang="en-IN" sz="2400" dirty="0">
                <a:latin typeface="Times New Roman" panose="02020603050405020304" pitchFamily="18" charset="0"/>
                <a:cs typeface="Times New Roman" panose="02020603050405020304" pitchFamily="18" charset="0"/>
              </a:rPr>
              <a:t> optic services, and lack of support features.</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Customers with shorter tenure are more likely to leave, while long-term and bundled-service users are more loyal.</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analysis highlights the strong impact of churn on revenue and business performance.</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Power BI dashboards provide clear insights into customer behaviour and churn patterns.</a:t>
            </a:r>
          </a:p>
          <a:p>
            <a:pPr marL="342900" lvl="0" indent="-342900" eaLnBrk="0" fontAlgn="base" hangingPunct="0">
              <a:spcBef>
                <a:spcPct val="0"/>
              </a:spcBef>
              <a:spcAft>
                <a:spcPct val="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project helps businesses make data-driven decisions and build effective retention strategies.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90550" y="501056"/>
            <a:ext cx="11391900" cy="6185535"/>
            <a:chOff x="590550" y="501056"/>
            <a:chExt cx="11391900" cy="6185535"/>
          </a:xfrm>
        </p:grpSpPr>
        <p:pic>
          <p:nvPicPr>
            <p:cNvPr id="3" name="object 3" descr="Quotation – PRS Labs"/>
            <p:cNvPicPr/>
            <p:nvPr/>
          </p:nvPicPr>
          <p:blipFill>
            <a:blip r:embed="rId2" cstate="print"/>
            <a:stretch>
              <a:fillRect/>
            </a:stretch>
          </p:blipFill>
          <p:spPr>
            <a:xfrm>
              <a:off x="590550" y="501056"/>
              <a:ext cx="10925175" cy="6185493"/>
            </a:xfrm>
            <a:prstGeom prst="rect">
              <a:avLst/>
            </a:prstGeom>
          </p:spPr>
        </p:pic>
        <p:pic>
          <p:nvPicPr>
            <p:cNvPr id="4" name="object 4" descr="Innomatics Research labs - Crunchbase Company Profile &amp; Funding"/>
            <p:cNvPicPr/>
            <p:nvPr/>
          </p:nvPicPr>
          <p:blipFill>
            <a:blip r:embed="rId3" cstate="print"/>
            <a:stretch>
              <a:fillRect/>
            </a:stretch>
          </p:blipFill>
          <p:spPr>
            <a:xfrm>
              <a:off x="9648825" y="6257924"/>
              <a:ext cx="2333625" cy="428625"/>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2011841"/>
            <a:ext cx="4465643" cy="2834317"/>
          </a:xfrm>
          <a:prstGeom prst="rect">
            <a:avLst/>
          </a:prstGeom>
          <a:noFill/>
          <a:ln>
            <a:noFill/>
          </a:ln>
        </p:spPr>
      </p:pic>
      <p:sp>
        <p:nvSpPr>
          <p:cNvPr id="117" name="Google Shape;117;p5"/>
          <p:cNvSpPr txBox="1"/>
          <p:nvPr/>
        </p:nvSpPr>
        <p:spPr>
          <a:xfrm>
            <a:off x="1259841" y="2546874"/>
            <a:ext cx="3661836" cy="144206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C00000"/>
              </a:buClr>
              <a:buSzPts val="4400"/>
              <a:buFont typeface="Libre Baskerville"/>
              <a:buNone/>
            </a:pPr>
            <a:r>
              <a:rPr lang="en-IN" sz="4400" b="1" i="0" u="none" strike="noStrike" cap="none" dirty="0">
                <a:solidFill>
                  <a:srgbClr val="C00000"/>
                </a:solidFill>
                <a:latin typeface="Times New Roman" panose="02020603050405020304" pitchFamily="18" charset="0"/>
                <a:ea typeface="Libre Baskerville"/>
                <a:cs typeface="Times New Roman" panose="02020603050405020304" pitchFamily="18" charset="0"/>
                <a:sym typeface="Libre Baskerville"/>
              </a:rPr>
              <a:t>THANK </a:t>
            </a:r>
          </a:p>
          <a:p>
            <a:pPr marL="0" marR="0" lvl="0" indent="0" algn="ctr" rtl="0">
              <a:lnSpc>
                <a:spcPct val="100000"/>
              </a:lnSpc>
              <a:spcBef>
                <a:spcPts val="0"/>
              </a:spcBef>
              <a:spcAft>
                <a:spcPts val="0"/>
              </a:spcAft>
              <a:buClr>
                <a:srgbClr val="C00000"/>
              </a:buClr>
              <a:buSzPts val="4400"/>
              <a:buFont typeface="Libre Baskerville"/>
              <a:buNone/>
            </a:pPr>
            <a:r>
              <a:rPr lang="en-IN" sz="4400" b="1" i="0" u="none" strike="noStrike" cap="none" dirty="0">
                <a:solidFill>
                  <a:srgbClr val="C00000"/>
                </a:solidFill>
                <a:latin typeface="Times New Roman" panose="02020603050405020304" pitchFamily="18" charset="0"/>
                <a:ea typeface="Libre Baskerville"/>
                <a:cs typeface="Times New Roman" panose="02020603050405020304" pitchFamily="18" charset="0"/>
                <a:sym typeface="Libre Baskerville"/>
              </a:rPr>
              <a:t>YOU</a:t>
            </a:r>
            <a:endParaRPr sz="4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508</TotalTime>
  <Words>1308</Words>
  <Application>Microsoft Office PowerPoint</Application>
  <PresentationFormat>Widescreen</PresentationFormat>
  <Paragraphs>152</Paragraphs>
  <Slides>22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Libre Baskerville</vt:lpstr>
      <vt:lpstr>Times New Roman</vt:lpstr>
      <vt:lpstr>Wingdings</vt:lpstr>
      <vt:lpstr>Office Theme</vt:lpstr>
      <vt:lpstr>Name: M. Vani Batchno: 435 Innomaticsresearchlabs</vt:lpstr>
      <vt:lpstr>AGENDA</vt:lpstr>
      <vt:lpstr>PROBLEM STATEMENT</vt:lpstr>
      <vt:lpstr>PROJECT OBJECTIVE</vt:lpstr>
      <vt:lpstr>PROJECT OVERVIEW</vt:lpstr>
      <vt:lpstr>DATA PREPARATION</vt:lpstr>
      <vt:lpstr>PowerPoint Presentation</vt:lpstr>
      <vt:lpstr>DASHBOARD OVERVIEW</vt:lpstr>
      <vt:lpstr>PowerPoint Presentation</vt:lpstr>
      <vt:lpstr>CUSTOMER DEMOGRAPHICS ANALYSIS</vt:lpstr>
      <vt:lpstr>PowerPoint Presentation</vt:lpstr>
      <vt:lpstr>SERVICE SUBSCRIPTION ANALYSIS</vt:lpstr>
      <vt:lpstr>PowerPoint Presentation</vt:lpstr>
      <vt:lpstr>CONTRACT &amp; BILLING INSIGHTS</vt:lpstr>
      <vt:lpstr>PowerPoint Presentation</vt:lpstr>
      <vt:lpstr>CHURN PREDICTION &amp; KEY DRIVERS</vt:lpstr>
      <vt:lpstr>KEY INSIGHTS &amp; FINDINGS </vt:lpstr>
      <vt:lpstr>APPLICATIONS &amp; RECOMMENDATIONS</vt:lpstr>
      <vt:lpstr>Challenges Faced During the Project</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SATISH KUMAR</dc:creator>
  <cp:lastModifiedBy>SATISH KUMAR</cp:lastModifiedBy>
  <cp:revision>20</cp:revision>
  <dcterms:created xsi:type="dcterms:W3CDTF">2026-04-17T19:11:41Z</dcterms:created>
  <dcterms:modified xsi:type="dcterms:W3CDTF">2026-05-15T12:07:01Z</dcterms:modified>
</cp:coreProperties>
</file>